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7315200" cy="9601200"/>
  <p:embeddedFontLst>
    <p:embeddedFont>
      <p:font typeface="Bookman Old Style" panose="02050604050505020204" pitchFamily="18" charset="0"/>
      <p:regular r:id="rId27"/>
      <p:bold r:id="rId28"/>
      <p:italic r:id="rId29"/>
      <p:boldItalic r:id="rId30"/>
    </p:embeddedFont>
    <p:embeddedFont>
      <p:font typeface="Libre Franklin"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jfnOkXhdhgmyAiNyC96YbNdgrwY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customschemas.google.com/relationships/presentationmetadata" Target="meta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25" tIns="48300" rIns="96625" bIns="48300"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25" tIns="48300" rIns="96625" bIns="48300"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25" tIns="48300" rIns="96625" bIns="48300"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25" tIns="48300" rIns="96625" bIns="48300" anchor="b" anchorCtr="0">
            <a:noAutofit/>
          </a:bodyPr>
          <a:lstStyle/>
          <a:p>
            <a:pPr marL="0" marR="0" lvl="0" indent="0" algn="r" rtl="0">
              <a:lnSpc>
                <a:spcPct val="100000"/>
              </a:lnSpc>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1: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77" name="Google Shape;77;p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7: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89" name="Google Shape;89;p2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96" name="Google Shape;96;p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4: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8: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2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29: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2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30: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25" name="Google Shape;125;p3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31: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3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2: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3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3: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44" name="Google Shape;144;p3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34: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34: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Google Shape;156;p5: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5:notes"/>
          <p:cNvSpPr txBox="1">
            <a:spLocks noGrp="1"/>
          </p:cNvSpPr>
          <p:nvPr>
            <p:ph type="sldNum" idx="12"/>
          </p:nvPr>
        </p:nvSpPr>
        <p:spPr>
          <a:xfrm>
            <a:off x="4143587" y="9119474"/>
            <a:ext cx="3169920" cy="481726"/>
          </a:xfrm>
          <a:prstGeom prst="rect">
            <a:avLst/>
          </a:prstGeom>
          <a:noFill/>
          <a:ln>
            <a:noFill/>
          </a:ln>
        </p:spPr>
        <p:txBody>
          <a:bodyPr spcFirstLastPara="1" wrap="square" lIns="96625" tIns="48300" rIns="96625" bIns="48300" anchor="b" anchorCtr="0">
            <a:noAutofit/>
          </a:bodyPr>
          <a:lstStyle/>
          <a:p>
            <a:pPr marL="0" lvl="0" indent="0" algn="r" rtl="0">
              <a:lnSpc>
                <a:spcPct val="100000"/>
              </a:lnSpc>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7: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70" name="Google Shape;170;p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35: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p3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8: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36: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3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37: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3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38: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3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39: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3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40: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p4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41: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p4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42:notes"/>
          <p:cNvSpPr txBox="1">
            <a:spLocks noGrp="1"/>
          </p:cNvSpPr>
          <p:nvPr>
            <p:ph type="body" idx="1"/>
          </p:nvPr>
        </p:nvSpPr>
        <p:spPr>
          <a:xfrm>
            <a:off x="731520" y="4620577"/>
            <a:ext cx="5852160" cy="3780473"/>
          </a:xfrm>
          <a:prstGeom prst="rect">
            <a:avLst/>
          </a:prstGeom>
          <a:noFill/>
          <a:ln>
            <a:noFill/>
          </a:ln>
        </p:spPr>
        <p:txBody>
          <a:bodyPr spcFirstLastPara="1" wrap="square" lIns="96625" tIns="48300" rIns="96625" bIns="483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4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7"/>
        <p:cNvGrpSpPr/>
        <p:nvPr/>
      </p:nvGrpSpPr>
      <p:grpSpPr>
        <a:xfrm>
          <a:off x="0" y="0"/>
          <a:ext cx="0" cy="0"/>
          <a:chOff x="0" y="0"/>
          <a:chExt cx="0" cy="0"/>
        </a:xfrm>
      </p:grpSpPr>
      <p:sp>
        <p:nvSpPr>
          <p:cNvPr id="18" name="Google Shape;18;p18"/>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8"/>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EFEFE"/>
              </a:buClr>
              <a:buSzPts val="8000"/>
              <a:buFont typeface="Bookman Old Style"/>
              <a:buNone/>
              <a:defRPr sz="8000">
                <a:solidFill>
                  <a:srgbClr val="FEFEFE"/>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8"/>
          <p:cNvSpPr txBox="1">
            <a:spLocks noGrp="1"/>
          </p:cNvSpPr>
          <p:nvPr>
            <p:ph type="subTitle" idx="1"/>
          </p:nvPr>
        </p:nvSpPr>
        <p:spPr>
          <a:xfrm>
            <a:off x="1100051" y="4645152"/>
            <a:ext cx="10058400" cy="1143000"/>
          </a:xfrm>
          <a:prstGeom prst="rect">
            <a:avLst/>
          </a:prstGeom>
          <a:noFill/>
          <a:ln>
            <a:noFill/>
          </a:ln>
        </p:spPr>
        <p:txBody>
          <a:bodyPr spcFirstLastPara="1" wrap="square" lIns="91425" tIns="45700" rIns="91425" bIns="45700" anchor="t" anchorCtr="0">
            <a:normAutofit/>
          </a:bodyPr>
          <a:lstStyle>
            <a:lvl1pPr lvl="0" algn="l">
              <a:lnSpc>
                <a:spcPct val="110000"/>
              </a:lnSpc>
              <a:spcBef>
                <a:spcPts val="1200"/>
              </a:spcBef>
              <a:spcAft>
                <a:spcPts val="0"/>
              </a:spcAft>
              <a:buSzPts val="2400"/>
              <a:buNone/>
              <a:defRPr sz="2400" cap="none">
                <a:solidFill>
                  <a:schemeClr val="lt1"/>
                </a:solidFill>
                <a:latin typeface="Libre Franklin"/>
                <a:ea typeface="Libre Franklin"/>
                <a:cs typeface="Libre Franklin"/>
                <a:sym typeface="Libre Franklin"/>
              </a:defRPr>
            </a:lvl1pPr>
            <a:lvl2pPr lvl="1" algn="ctr">
              <a:lnSpc>
                <a:spcPct val="100000"/>
              </a:lnSpc>
              <a:spcBef>
                <a:spcPts val="200"/>
              </a:spcBef>
              <a:spcAft>
                <a:spcPts val="0"/>
              </a:spcAft>
              <a:buClr>
                <a:srgbClr val="FEFEFE"/>
              </a:buClr>
              <a:buSzPts val="2400"/>
              <a:buNone/>
              <a:defRPr sz="2400"/>
            </a:lvl2pPr>
            <a:lvl3pPr lvl="2" algn="ctr">
              <a:lnSpc>
                <a:spcPct val="100000"/>
              </a:lnSpc>
              <a:spcBef>
                <a:spcPts val="400"/>
              </a:spcBef>
              <a:spcAft>
                <a:spcPts val="0"/>
              </a:spcAft>
              <a:buClr>
                <a:srgbClr val="FEFEFE"/>
              </a:buClr>
              <a:buSzPts val="2400"/>
              <a:buNone/>
              <a:defRPr sz="2400"/>
            </a:lvl3pPr>
            <a:lvl4pPr lvl="3" algn="ctr">
              <a:lnSpc>
                <a:spcPct val="100000"/>
              </a:lnSpc>
              <a:spcBef>
                <a:spcPts val="400"/>
              </a:spcBef>
              <a:spcAft>
                <a:spcPts val="0"/>
              </a:spcAft>
              <a:buClr>
                <a:srgbClr val="FEFEFE"/>
              </a:buClr>
              <a:buSzPts val="2000"/>
              <a:buNone/>
              <a:defRPr sz="2000"/>
            </a:lvl4pPr>
            <a:lvl5pPr lvl="4" algn="ctr">
              <a:lnSpc>
                <a:spcPct val="100000"/>
              </a:lnSpc>
              <a:spcBef>
                <a:spcPts val="400"/>
              </a:spcBef>
              <a:spcAft>
                <a:spcPts val="0"/>
              </a:spcAft>
              <a:buClr>
                <a:srgbClr val="FEFEFE"/>
              </a:buClr>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cxnSp>
        <p:nvCxnSpPr>
          <p:cNvPr id="21" name="Google Shape;21;p18"/>
          <p:cNvCxnSpPr/>
          <p:nvPr/>
        </p:nvCxnSpPr>
        <p:spPr>
          <a:xfrm>
            <a:off x="1207658" y="4474741"/>
            <a:ext cx="9875520" cy="0"/>
          </a:xfrm>
          <a:prstGeom prst="straightConnector1">
            <a:avLst/>
          </a:prstGeom>
          <a:noFill/>
          <a:ln w="12700" cap="flat" cmpd="sng">
            <a:solidFill>
              <a:srgbClr val="FEFEFE"/>
            </a:solidFill>
            <a:prstDash val="solid"/>
            <a:round/>
            <a:headEnd type="none" w="sm" len="sm"/>
            <a:tailEnd type="none" w="sm" len="sm"/>
          </a:ln>
        </p:spPr>
      </p:cxnSp>
      <p:sp>
        <p:nvSpPr>
          <p:cNvPr id="22" name="Google Shape;22;p18"/>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8"/>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8"/>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3"/>
        <p:cNvGrpSpPr/>
        <p:nvPr/>
      </p:nvGrpSpPr>
      <p:grpSpPr>
        <a:xfrm>
          <a:off x="0" y="0"/>
          <a:ext cx="0" cy="0"/>
          <a:chOff x="0" y="0"/>
          <a:chExt cx="0" cy="0"/>
        </a:xfrm>
      </p:grpSpPr>
      <p:sp>
        <p:nvSpPr>
          <p:cNvPr id="34" name="Google Shape;34;p19"/>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19"/>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9"/>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2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body" idx="1"/>
          </p:nvPr>
        </p:nvSpPr>
        <p:spPr>
          <a:xfrm>
            <a:off x="1097280" y="2120900"/>
            <a:ext cx="4639736" cy="3748193"/>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1" name="Google Shape;41;p22"/>
          <p:cNvSpPr txBox="1">
            <a:spLocks noGrp="1"/>
          </p:cNvSpPr>
          <p:nvPr>
            <p:ph type="body" idx="2"/>
          </p:nvPr>
        </p:nvSpPr>
        <p:spPr>
          <a:xfrm>
            <a:off x="6515944" y="2120900"/>
            <a:ext cx="4639736" cy="3748194"/>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2" name="Google Shape;42;p22"/>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2"/>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2"/>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2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3"/>
          <p:cNvSpPr txBox="1">
            <a:spLocks noGrp="1"/>
          </p:cNvSpPr>
          <p:nvPr>
            <p:ph type="body" idx="1"/>
          </p:nvPr>
        </p:nvSpPr>
        <p:spPr>
          <a:xfrm>
            <a:off x="1097280" y="2057400"/>
            <a:ext cx="4639736"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110000"/>
              </a:lnSpc>
              <a:spcBef>
                <a:spcPts val="1200"/>
              </a:spcBef>
              <a:spcAft>
                <a:spcPts val="0"/>
              </a:spcAft>
              <a:buSzPts val="2000"/>
              <a:buNone/>
              <a:defRPr sz="2000" b="0" cap="none">
                <a:solidFill>
                  <a:schemeClr val="dk1"/>
                </a:solidFill>
              </a:defRPr>
            </a:lvl1pPr>
            <a:lvl2pPr marL="914400" lvl="1" indent="-228600" algn="l">
              <a:lnSpc>
                <a:spcPct val="100000"/>
              </a:lnSpc>
              <a:spcBef>
                <a:spcPts val="200"/>
              </a:spcBef>
              <a:spcAft>
                <a:spcPts val="0"/>
              </a:spcAft>
              <a:buClr>
                <a:srgbClr val="3F3F3F"/>
              </a:buClr>
              <a:buSzPts val="2000"/>
              <a:buNone/>
              <a:defRPr sz="2000" b="1"/>
            </a:lvl2pPr>
            <a:lvl3pPr marL="1371600" lvl="2" indent="-228600" algn="l">
              <a:lnSpc>
                <a:spcPct val="100000"/>
              </a:lnSpc>
              <a:spcBef>
                <a:spcPts val="400"/>
              </a:spcBef>
              <a:spcAft>
                <a:spcPts val="0"/>
              </a:spcAft>
              <a:buClr>
                <a:srgbClr val="3F3F3F"/>
              </a:buClr>
              <a:buSzPts val="1800"/>
              <a:buNone/>
              <a:defRPr sz="1800" b="1"/>
            </a:lvl3pPr>
            <a:lvl4pPr marL="1828800" lvl="3" indent="-228600" algn="l">
              <a:lnSpc>
                <a:spcPct val="100000"/>
              </a:lnSpc>
              <a:spcBef>
                <a:spcPts val="400"/>
              </a:spcBef>
              <a:spcAft>
                <a:spcPts val="0"/>
              </a:spcAft>
              <a:buClr>
                <a:srgbClr val="3F3F3F"/>
              </a:buClr>
              <a:buSzPts val="1600"/>
              <a:buNone/>
              <a:defRPr sz="1600" b="1"/>
            </a:lvl4pPr>
            <a:lvl5pPr marL="2286000" lvl="4" indent="-228600" algn="l">
              <a:lnSpc>
                <a:spcPct val="100000"/>
              </a:lnSpc>
              <a:spcBef>
                <a:spcPts val="400"/>
              </a:spcBef>
              <a:spcAft>
                <a:spcPts val="0"/>
              </a:spcAft>
              <a:buClr>
                <a:srgbClr val="3F3F3F"/>
              </a:buClr>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48" name="Google Shape;48;p23"/>
          <p:cNvSpPr txBox="1">
            <a:spLocks noGrp="1"/>
          </p:cNvSpPr>
          <p:nvPr>
            <p:ph type="body" idx="2"/>
          </p:nvPr>
        </p:nvSpPr>
        <p:spPr>
          <a:xfrm>
            <a:off x="1097280" y="2958274"/>
            <a:ext cx="4639736" cy="2910821"/>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49" name="Google Shape;49;p23"/>
          <p:cNvSpPr txBox="1">
            <a:spLocks noGrp="1"/>
          </p:cNvSpPr>
          <p:nvPr>
            <p:ph type="body" idx="3"/>
          </p:nvPr>
        </p:nvSpPr>
        <p:spPr>
          <a:xfrm>
            <a:off x="6515944" y="2057400"/>
            <a:ext cx="4639736"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110000"/>
              </a:lnSpc>
              <a:spcBef>
                <a:spcPts val="1200"/>
              </a:spcBef>
              <a:spcAft>
                <a:spcPts val="0"/>
              </a:spcAft>
              <a:buSzPts val="2000"/>
              <a:buNone/>
              <a:defRPr sz="2000" b="0" cap="none">
                <a:solidFill>
                  <a:schemeClr val="dk1"/>
                </a:solidFill>
              </a:defRPr>
            </a:lvl1pPr>
            <a:lvl2pPr marL="914400" lvl="1" indent="-228600" algn="l">
              <a:lnSpc>
                <a:spcPct val="100000"/>
              </a:lnSpc>
              <a:spcBef>
                <a:spcPts val="200"/>
              </a:spcBef>
              <a:spcAft>
                <a:spcPts val="0"/>
              </a:spcAft>
              <a:buClr>
                <a:srgbClr val="3F3F3F"/>
              </a:buClr>
              <a:buSzPts val="2000"/>
              <a:buNone/>
              <a:defRPr sz="2000" b="1"/>
            </a:lvl2pPr>
            <a:lvl3pPr marL="1371600" lvl="2" indent="-228600" algn="l">
              <a:lnSpc>
                <a:spcPct val="100000"/>
              </a:lnSpc>
              <a:spcBef>
                <a:spcPts val="400"/>
              </a:spcBef>
              <a:spcAft>
                <a:spcPts val="0"/>
              </a:spcAft>
              <a:buClr>
                <a:srgbClr val="3F3F3F"/>
              </a:buClr>
              <a:buSzPts val="1800"/>
              <a:buNone/>
              <a:defRPr sz="1800" b="1"/>
            </a:lvl3pPr>
            <a:lvl4pPr marL="1828800" lvl="3" indent="-228600" algn="l">
              <a:lnSpc>
                <a:spcPct val="100000"/>
              </a:lnSpc>
              <a:spcBef>
                <a:spcPts val="400"/>
              </a:spcBef>
              <a:spcAft>
                <a:spcPts val="0"/>
              </a:spcAft>
              <a:buClr>
                <a:srgbClr val="3F3F3F"/>
              </a:buClr>
              <a:buSzPts val="1600"/>
              <a:buNone/>
              <a:defRPr sz="1600" b="1"/>
            </a:lvl4pPr>
            <a:lvl5pPr marL="2286000" lvl="4" indent="-228600" algn="l">
              <a:lnSpc>
                <a:spcPct val="100000"/>
              </a:lnSpc>
              <a:spcBef>
                <a:spcPts val="400"/>
              </a:spcBef>
              <a:spcAft>
                <a:spcPts val="0"/>
              </a:spcAft>
              <a:buClr>
                <a:srgbClr val="3F3F3F"/>
              </a:buClr>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0" name="Google Shape;50;p23"/>
          <p:cNvSpPr txBox="1">
            <a:spLocks noGrp="1"/>
          </p:cNvSpPr>
          <p:nvPr>
            <p:ph type="body" idx="4"/>
          </p:nvPr>
        </p:nvSpPr>
        <p:spPr>
          <a:xfrm>
            <a:off x="6515944" y="2958273"/>
            <a:ext cx="4639736" cy="2910821"/>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1" name="Google Shape;51;p23"/>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2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4"/>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4"/>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4"/>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59"/>
        <p:cNvGrpSpPr/>
        <p:nvPr/>
      </p:nvGrpSpPr>
      <p:grpSpPr>
        <a:xfrm>
          <a:off x="0" y="0"/>
          <a:ext cx="0" cy="0"/>
          <a:chOff x="0" y="0"/>
          <a:chExt cx="0" cy="0"/>
        </a:xfrm>
      </p:grpSpPr>
      <p:sp>
        <p:nvSpPr>
          <p:cNvPr id="60" name="Google Shape;60;p25"/>
          <p:cNvSpPr/>
          <p:nvPr/>
        </p:nvSpPr>
        <p:spPr>
          <a:xfrm>
            <a:off x="16" y="0"/>
            <a:ext cx="4654296" cy="6858000"/>
          </a:xfrm>
          <a:prstGeom prst="rect">
            <a:avLst/>
          </a:prstGeom>
          <a:solidFill>
            <a:srgbClr val="26262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5"/>
          <p:cNvSpPr txBox="1">
            <a:spLocks noGrp="1"/>
          </p:cNvSpPr>
          <p:nvPr>
            <p:ph type="title"/>
          </p:nvPr>
        </p:nvSpPr>
        <p:spPr>
          <a:xfrm>
            <a:off x="643466" y="786383"/>
            <a:ext cx="3517567" cy="209397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FFFF"/>
              </a:buClr>
              <a:buSzPts val="3600"/>
              <a:buFont typeface="Bookman Old Style"/>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5"/>
          <p:cNvSpPr txBox="1">
            <a:spLocks noGrp="1"/>
          </p:cNvSpPr>
          <p:nvPr>
            <p:ph type="body" idx="1"/>
          </p:nvPr>
        </p:nvSpPr>
        <p:spPr>
          <a:xfrm>
            <a:off x="5458984" y="812799"/>
            <a:ext cx="5928344" cy="5294757"/>
          </a:xfrm>
          <a:prstGeom prst="rect">
            <a:avLst/>
          </a:prstGeom>
          <a:noFill/>
          <a:ln>
            <a:noFill/>
          </a:ln>
        </p:spPr>
        <p:txBody>
          <a:bodyPr spcFirstLastPara="1" wrap="square" lIns="0" tIns="45700" rIns="0" bIns="45700" anchor="t" anchorCtr="0">
            <a:normAutofit/>
          </a:bodyPr>
          <a:lstStyle>
            <a:lvl1pPr marL="457200" lvl="0" indent="-342900" algn="l">
              <a:lnSpc>
                <a:spcPct val="110000"/>
              </a:lnSpc>
              <a:spcBef>
                <a:spcPts val="1200"/>
              </a:spcBef>
              <a:spcAft>
                <a:spcPts val="0"/>
              </a:spcAft>
              <a:buSzPts val="1800"/>
              <a:buChar char=" "/>
              <a:defRPr/>
            </a:lvl1pPr>
            <a:lvl2pPr marL="914400" lvl="1" indent="-342900" algn="l">
              <a:lnSpc>
                <a:spcPct val="100000"/>
              </a:lnSpc>
              <a:spcBef>
                <a:spcPts val="200"/>
              </a:spcBef>
              <a:spcAft>
                <a:spcPts val="0"/>
              </a:spcAft>
              <a:buClr>
                <a:srgbClr val="3F3F3F"/>
              </a:buClr>
              <a:buSzPts val="1800"/>
              <a:buChar char="◦"/>
              <a:defRPr/>
            </a:lvl2pPr>
            <a:lvl3pPr marL="1371600" lvl="2" indent="-342900" algn="l">
              <a:lnSpc>
                <a:spcPct val="100000"/>
              </a:lnSpc>
              <a:spcBef>
                <a:spcPts val="400"/>
              </a:spcBef>
              <a:spcAft>
                <a:spcPts val="0"/>
              </a:spcAft>
              <a:buClr>
                <a:srgbClr val="3F3F3F"/>
              </a:buClr>
              <a:buSzPts val="1800"/>
              <a:buChar char="◦"/>
              <a:defRPr/>
            </a:lvl3pPr>
            <a:lvl4pPr marL="1828800" lvl="3" indent="-342900" algn="l">
              <a:lnSpc>
                <a:spcPct val="100000"/>
              </a:lnSpc>
              <a:spcBef>
                <a:spcPts val="400"/>
              </a:spcBef>
              <a:spcAft>
                <a:spcPts val="0"/>
              </a:spcAft>
              <a:buClr>
                <a:srgbClr val="3F3F3F"/>
              </a:buClr>
              <a:buSzPts val="1800"/>
              <a:buChar char="◦"/>
              <a:defRPr/>
            </a:lvl4pPr>
            <a:lvl5pPr marL="2286000" lvl="4" indent="-342900" algn="l">
              <a:lnSpc>
                <a:spcPct val="100000"/>
              </a:lnSpc>
              <a:spcBef>
                <a:spcPts val="400"/>
              </a:spcBef>
              <a:spcAft>
                <a:spcPts val="0"/>
              </a:spcAft>
              <a:buClr>
                <a:srgbClr val="3F3F3F"/>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3" name="Google Shape;63;p25"/>
          <p:cNvSpPr txBox="1">
            <a:spLocks noGrp="1"/>
          </p:cNvSpPr>
          <p:nvPr>
            <p:ph type="body" idx="2"/>
          </p:nvPr>
        </p:nvSpPr>
        <p:spPr>
          <a:xfrm>
            <a:off x="643465" y="3043050"/>
            <a:ext cx="3517567" cy="3064505"/>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200"/>
              </a:spcBef>
              <a:spcAft>
                <a:spcPts val="0"/>
              </a:spcAft>
              <a:buSzPts val="1800"/>
              <a:buNone/>
              <a:defRPr sz="1800">
                <a:solidFill>
                  <a:srgbClr val="FFFFFF"/>
                </a:solidFill>
              </a:defRPr>
            </a:lvl1pPr>
            <a:lvl2pPr marL="914400" lvl="1" indent="-228600" algn="l">
              <a:lnSpc>
                <a:spcPct val="100000"/>
              </a:lnSpc>
              <a:spcBef>
                <a:spcPts val="200"/>
              </a:spcBef>
              <a:spcAft>
                <a:spcPts val="0"/>
              </a:spcAft>
              <a:buClr>
                <a:srgbClr val="3F3F3F"/>
              </a:buClr>
              <a:buSzPts val="1200"/>
              <a:buNone/>
              <a:defRPr sz="1200"/>
            </a:lvl2pPr>
            <a:lvl3pPr marL="1371600" lvl="2" indent="-228600" algn="l">
              <a:lnSpc>
                <a:spcPct val="100000"/>
              </a:lnSpc>
              <a:spcBef>
                <a:spcPts val="400"/>
              </a:spcBef>
              <a:spcAft>
                <a:spcPts val="0"/>
              </a:spcAft>
              <a:buClr>
                <a:srgbClr val="3F3F3F"/>
              </a:buClr>
              <a:buSzPts val="1000"/>
              <a:buNone/>
              <a:defRPr sz="1000"/>
            </a:lvl3pPr>
            <a:lvl4pPr marL="1828800" lvl="3" indent="-228600" algn="l">
              <a:lnSpc>
                <a:spcPct val="100000"/>
              </a:lnSpc>
              <a:spcBef>
                <a:spcPts val="400"/>
              </a:spcBef>
              <a:spcAft>
                <a:spcPts val="0"/>
              </a:spcAft>
              <a:buClr>
                <a:srgbClr val="3F3F3F"/>
              </a:buClr>
              <a:buSzPts val="900"/>
              <a:buNone/>
              <a:defRPr sz="900"/>
            </a:lvl4pPr>
            <a:lvl5pPr marL="2286000" lvl="4" indent="-228600" algn="l">
              <a:lnSpc>
                <a:spcPct val="100000"/>
              </a:lnSpc>
              <a:spcBef>
                <a:spcPts val="400"/>
              </a:spcBef>
              <a:spcAft>
                <a:spcPts val="0"/>
              </a:spcAft>
              <a:buClr>
                <a:srgbClr val="3F3F3F"/>
              </a:buClr>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64" name="Google Shape;64;p25"/>
          <p:cNvSpPr txBox="1">
            <a:spLocks noGrp="1"/>
          </p:cNvSpPr>
          <p:nvPr>
            <p:ph type="dt" idx="10"/>
          </p:nvPr>
        </p:nvSpPr>
        <p:spPr>
          <a:xfrm>
            <a:off x="643464" y="6446520"/>
            <a:ext cx="351756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5"/>
          <p:cNvSpPr txBox="1">
            <a:spLocks noGrp="1"/>
          </p:cNvSpPr>
          <p:nvPr>
            <p:ph type="ftr" idx="11"/>
          </p:nvPr>
        </p:nvSpPr>
        <p:spPr>
          <a:xfrm>
            <a:off x="5458983" y="6446520"/>
            <a:ext cx="533401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5"/>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800"/>
              <a:buFont typeface="Arial"/>
              <a:buNone/>
              <a:defRPr sz="800" b="0" i="0" u="none" strike="noStrike" cap="none">
                <a:solidFill>
                  <a:schemeClr val="dk2"/>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800"/>
              <a:buFont typeface="Arial"/>
              <a:buNone/>
              <a:defRPr sz="800" b="0" i="0" u="none" strike="noStrike" cap="none">
                <a:solidFill>
                  <a:schemeClr val="dk2"/>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800"/>
              <a:buFont typeface="Arial"/>
              <a:buNone/>
              <a:defRPr sz="800" b="0" i="0" u="none" strike="noStrike" cap="none">
                <a:solidFill>
                  <a:schemeClr val="dk2"/>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800"/>
              <a:buFont typeface="Arial"/>
              <a:buNone/>
              <a:defRPr sz="800" b="0" i="0" u="none" strike="noStrike" cap="none">
                <a:solidFill>
                  <a:schemeClr val="dk2"/>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800"/>
              <a:buFont typeface="Arial"/>
              <a:buNone/>
              <a:defRPr sz="800" b="0" i="0" u="none" strike="noStrike" cap="none">
                <a:solidFill>
                  <a:schemeClr val="dk2"/>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800"/>
              <a:buFont typeface="Arial"/>
              <a:buNone/>
              <a:defRPr sz="800" b="0" i="0" u="none" strike="noStrike" cap="none">
                <a:solidFill>
                  <a:schemeClr val="dk2"/>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800"/>
              <a:buFont typeface="Arial"/>
              <a:buNone/>
              <a:defRPr sz="800" b="0" i="0" u="none" strike="noStrike" cap="none">
                <a:solidFill>
                  <a:schemeClr val="dk2"/>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800"/>
              <a:buFont typeface="Arial"/>
              <a:buNone/>
              <a:defRPr sz="800" b="0" i="0" u="none" strike="noStrike" cap="none">
                <a:solidFill>
                  <a:schemeClr val="dk2"/>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800"/>
              <a:buFont typeface="Arial"/>
              <a:buNone/>
              <a:defRPr sz="800" b="0" i="0" u="none" strike="noStrike" cap="none">
                <a:solidFill>
                  <a:schemeClr val="dk2"/>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67"/>
        <p:cNvGrpSpPr/>
        <p:nvPr/>
      </p:nvGrpSpPr>
      <p:grpSpPr>
        <a:xfrm>
          <a:off x="0" y="0"/>
          <a:ext cx="0" cy="0"/>
          <a:chOff x="0" y="0"/>
          <a:chExt cx="0" cy="0"/>
        </a:xfrm>
      </p:grpSpPr>
      <p:sp>
        <p:nvSpPr>
          <p:cNvPr id="68" name="Google Shape;68;p26"/>
          <p:cNvSpPr/>
          <p:nvPr/>
        </p:nvSpPr>
        <p:spPr>
          <a:xfrm>
            <a:off x="0" y="4578350"/>
            <a:ext cx="12188825" cy="2279650"/>
          </a:xfrm>
          <a:prstGeom prst="rect">
            <a:avLst/>
          </a:prstGeom>
          <a:solidFill>
            <a:srgbClr val="26262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26"/>
          <p:cNvSpPr>
            <a:spLocks noGrp="1"/>
          </p:cNvSpPr>
          <p:nvPr>
            <p:ph type="pic" idx="2"/>
          </p:nvPr>
        </p:nvSpPr>
        <p:spPr>
          <a:xfrm>
            <a:off x="15" y="0"/>
            <a:ext cx="12191985" cy="4578350"/>
          </a:xfrm>
          <a:prstGeom prst="rect">
            <a:avLst/>
          </a:prstGeom>
          <a:solidFill>
            <a:srgbClr val="D8D8D8"/>
          </a:solidFill>
          <a:ln>
            <a:noFill/>
          </a:ln>
        </p:spPr>
      </p:sp>
      <p:sp>
        <p:nvSpPr>
          <p:cNvPr id="70" name="Google Shape;70;p26"/>
          <p:cNvSpPr txBox="1">
            <a:spLocks noGrp="1"/>
          </p:cNvSpPr>
          <p:nvPr>
            <p:ph type="title"/>
          </p:nvPr>
        </p:nvSpPr>
        <p:spPr>
          <a:xfrm>
            <a:off x="1097279" y="4799362"/>
            <a:ext cx="10113645" cy="743682"/>
          </a:xfrm>
          <a:prstGeom prst="rect">
            <a:avLst/>
          </a:prstGeom>
          <a:noFill/>
          <a:ln>
            <a:noFill/>
          </a:ln>
        </p:spPr>
        <p:txBody>
          <a:bodyPr spcFirstLastPara="1" wrap="square" lIns="91425" tIns="0" rIns="91425" bIns="0" anchor="b" anchorCtr="0">
            <a:noAutofit/>
          </a:bodyPr>
          <a:lstStyle>
            <a:lvl1pPr lvl="0" algn="l">
              <a:lnSpc>
                <a:spcPct val="90000"/>
              </a:lnSpc>
              <a:spcBef>
                <a:spcPts val="0"/>
              </a:spcBef>
              <a:spcAft>
                <a:spcPts val="0"/>
              </a:spcAft>
              <a:buClr>
                <a:srgbClr val="FFFFFF"/>
              </a:buClr>
              <a:buSzPts val="3600"/>
              <a:buFont typeface="Bookman Old Style"/>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6"/>
          <p:cNvSpPr txBox="1">
            <a:spLocks noGrp="1"/>
          </p:cNvSpPr>
          <p:nvPr>
            <p:ph type="body" idx="1"/>
          </p:nvPr>
        </p:nvSpPr>
        <p:spPr>
          <a:xfrm>
            <a:off x="1097279" y="5715000"/>
            <a:ext cx="10113264" cy="609600"/>
          </a:xfrm>
          <a:prstGeom prst="rect">
            <a:avLst/>
          </a:prstGeom>
          <a:noFill/>
          <a:ln>
            <a:noFill/>
          </a:ln>
        </p:spPr>
        <p:txBody>
          <a:bodyPr spcFirstLastPara="1" wrap="square" lIns="91425" tIns="0" rIns="91425" bIns="0" anchor="t" anchorCtr="0">
            <a:normAutofit/>
          </a:bodyPr>
          <a:lstStyle>
            <a:lvl1pPr marL="457200" lvl="0" indent="-228600" algn="l">
              <a:lnSpc>
                <a:spcPct val="110000"/>
              </a:lnSpc>
              <a:spcBef>
                <a:spcPts val="0"/>
              </a:spcBef>
              <a:spcAft>
                <a:spcPts val="0"/>
              </a:spcAft>
              <a:buSzPts val="1800"/>
              <a:buNone/>
              <a:defRPr sz="1800">
                <a:solidFill>
                  <a:srgbClr val="FFFFFF"/>
                </a:solidFill>
              </a:defRPr>
            </a:lvl1pPr>
            <a:lvl2pPr marL="914400" lvl="1" indent="-228600" algn="l">
              <a:lnSpc>
                <a:spcPct val="100000"/>
              </a:lnSpc>
              <a:spcBef>
                <a:spcPts val="600"/>
              </a:spcBef>
              <a:spcAft>
                <a:spcPts val="0"/>
              </a:spcAft>
              <a:buClr>
                <a:srgbClr val="3F3F3F"/>
              </a:buClr>
              <a:buSzPts val="1200"/>
              <a:buNone/>
              <a:defRPr sz="1200"/>
            </a:lvl2pPr>
            <a:lvl3pPr marL="1371600" lvl="2" indent="-228600" algn="l">
              <a:lnSpc>
                <a:spcPct val="100000"/>
              </a:lnSpc>
              <a:spcBef>
                <a:spcPts val="400"/>
              </a:spcBef>
              <a:spcAft>
                <a:spcPts val="0"/>
              </a:spcAft>
              <a:buClr>
                <a:srgbClr val="3F3F3F"/>
              </a:buClr>
              <a:buSzPts val="1000"/>
              <a:buNone/>
              <a:defRPr sz="1000"/>
            </a:lvl3pPr>
            <a:lvl4pPr marL="1828800" lvl="3" indent="-228600" algn="l">
              <a:lnSpc>
                <a:spcPct val="100000"/>
              </a:lnSpc>
              <a:spcBef>
                <a:spcPts val="400"/>
              </a:spcBef>
              <a:spcAft>
                <a:spcPts val="0"/>
              </a:spcAft>
              <a:buClr>
                <a:srgbClr val="3F3F3F"/>
              </a:buClr>
              <a:buSzPts val="900"/>
              <a:buNone/>
              <a:defRPr sz="900"/>
            </a:lvl4pPr>
            <a:lvl5pPr marL="2286000" lvl="4" indent="-228600" algn="l">
              <a:lnSpc>
                <a:spcPct val="100000"/>
              </a:lnSpc>
              <a:spcBef>
                <a:spcPts val="400"/>
              </a:spcBef>
              <a:spcAft>
                <a:spcPts val="0"/>
              </a:spcAft>
              <a:buClr>
                <a:srgbClr val="3F3F3F"/>
              </a:buClr>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2" name="Google Shape;72;p26"/>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6"/>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6"/>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1pPr>
            <a:lvl2pPr marL="0" marR="0" lvl="1"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2pPr>
            <a:lvl3pPr marL="0" marR="0" lvl="2"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3pPr>
            <a:lvl4pPr marL="0" marR="0" lvl="3"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4pPr>
            <a:lvl5pPr marL="0" marR="0" lvl="4"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5pPr>
            <a:lvl6pPr marL="0" marR="0" lvl="5"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6pPr>
            <a:lvl7pPr marL="0" marR="0" lvl="6"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7pPr>
            <a:lvl8pPr marL="0" marR="0" lvl="7"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8pPr>
            <a:lvl9pPr marL="0" marR="0" lvl="8" indent="0" algn="l">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16"/>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rgbClr val="FEFEFE"/>
              </a:buClr>
              <a:buSzPts val="4700"/>
              <a:buFont typeface="Bookman Old Style"/>
              <a:buNone/>
              <a:defRPr sz="4700" b="0" i="0" u="none" strike="noStrike" cap="none">
                <a:solidFill>
                  <a:srgbClr val="FEFEFE"/>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6"/>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lvl1pPr marL="457200" marR="0" lvl="0" indent="-349250" algn="l" rtl="0">
              <a:lnSpc>
                <a:spcPct val="110000"/>
              </a:lnSpc>
              <a:spcBef>
                <a:spcPts val="1200"/>
              </a:spcBef>
              <a:spcAft>
                <a:spcPts val="0"/>
              </a:spcAft>
              <a:buClr>
                <a:schemeClr val="accent1"/>
              </a:buClr>
              <a:buSzPts val="1900"/>
              <a:buFont typeface="Calibri"/>
              <a:buChar char=" "/>
              <a:defRPr sz="1900" b="0" i="0" u="none" strike="noStrike" cap="none">
                <a:solidFill>
                  <a:srgbClr val="FEFEFE"/>
                </a:solidFill>
                <a:latin typeface="Libre Franklin"/>
                <a:ea typeface="Libre Franklin"/>
                <a:cs typeface="Libre Franklin"/>
                <a:sym typeface="Libre Franklin"/>
              </a:defRPr>
            </a:lvl1pPr>
            <a:lvl2pPr marL="914400" marR="0" lvl="1" indent="-336550" algn="l" rtl="0">
              <a:lnSpc>
                <a:spcPct val="100000"/>
              </a:lnSpc>
              <a:spcBef>
                <a:spcPts val="200"/>
              </a:spcBef>
              <a:spcAft>
                <a:spcPts val="0"/>
              </a:spcAft>
              <a:buClr>
                <a:srgbClr val="FEFEFE"/>
              </a:buClr>
              <a:buSzPts val="1700"/>
              <a:buFont typeface="Calibri"/>
              <a:buChar char="◦"/>
              <a:defRPr sz="1700" b="0" i="0" u="none" strike="noStrike" cap="none">
                <a:solidFill>
                  <a:srgbClr val="FEFEFE"/>
                </a:solidFill>
                <a:latin typeface="Libre Franklin"/>
                <a:ea typeface="Libre Franklin"/>
                <a:cs typeface="Libre Franklin"/>
                <a:sym typeface="Libre Franklin"/>
              </a:defRPr>
            </a:lvl2pPr>
            <a:lvl3pPr marL="1371600" marR="0" lvl="2" indent="-311150" algn="l" rtl="0">
              <a:lnSpc>
                <a:spcPct val="100000"/>
              </a:lnSpc>
              <a:spcBef>
                <a:spcPts val="400"/>
              </a:spcBef>
              <a:spcAft>
                <a:spcPts val="0"/>
              </a:spcAft>
              <a:buClr>
                <a:srgbClr val="FEFEFE"/>
              </a:buClr>
              <a:buSzPts val="1300"/>
              <a:buFont typeface="Calibri"/>
              <a:buChar char="◦"/>
              <a:defRPr sz="1300" b="0" i="0" u="none" strike="noStrike" cap="none">
                <a:solidFill>
                  <a:srgbClr val="FEFEFE"/>
                </a:solidFill>
                <a:latin typeface="Libre Franklin"/>
                <a:ea typeface="Libre Franklin"/>
                <a:cs typeface="Libre Franklin"/>
                <a:sym typeface="Libre Franklin"/>
              </a:defRPr>
            </a:lvl3pPr>
            <a:lvl4pPr marL="1828800" marR="0" lvl="3" indent="-311150" algn="l" rtl="0">
              <a:lnSpc>
                <a:spcPct val="100000"/>
              </a:lnSpc>
              <a:spcBef>
                <a:spcPts val="400"/>
              </a:spcBef>
              <a:spcAft>
                <a:spcPts val="0"/>
              </a:spcAft>
              <a:buClr>
                <a:srgbClr val="FEFEFE"/>
              </a:buClr>
              <a:buSzPts val="1300"/>
              <a:buFont typeface="Calibri"/>
              <a:buChar char="◦"/>
              <a:defRPr sz="1300" b="0" i="0" u="none" strike="noStrike" cap="none">
                <a:solidFill>
                  <a:srgbClr val="FEFEFE"/>
                </a:solidFill>
                <a:latin typeface="Libre Franklin"/>
                <a:ea typeface="Libre Franklin"/>
                <a:cs typeface="Libre Franklin"/>
                <a:sym typeface="Libre Franklin"/>
              </a:defRPr>
            </a:lvl4pPr>
            <a:lvl5pPr marL="2286000" marR="0" lvl="4" indent="-311150" algn="l" rtl="0">
              <a:lnSpc>
                <a:spcPct val="100000"/>
              </a:lnSpc>
              <a:spcBef>
                <a:spcPts val="400"/>
              </a:spcBef>
              <a:spcAft>
                <a:spcPts val="0"/>
              </a:spcAft>
              <a:buClr>
                <a:srgbClr val="FEFEFE"/>
              </a:buClr>
              <a:buSzPts val="1300"/>
              <a:buFont typeface="Calibri"/>
              <a:buChar char="◦"/>
              <a:defRPr sz="1300" b="0" i="0" u="none" strike="noStrike" cap="none">
                <a:solidFill>
                  <a:srgbClr val="FEFEFE"/>
                </a:solidFill>
                <a:latin typeface="Libre Franklin"/>
                <a:ea typeface="Libre Franklin"/>
                <a:cs typeface="Libre Franklin"/>
                <a:sym typeface="Libre Franklin"/>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FEFEFE"/>
                </a:solidFill>
                <a:latin typeface="Libre Franklin"/>
                <a:ea typeface="Libre Franklin"/>
                <a:cs typeface="Libre Franklin"/>
                <a:sym typeface="Libre Franklin"/>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FEFEFE"/>
                </a:solidFill>
                <a:latin typeface="Libre Franklin"/>
                <a:ea typeface="Libre Franklin"/>
                <a:cs typeface="Libre Franklin"/>
                <a:sym typeface="Libre Franklin"/>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FEFEFE"/>
                </a:solidFill>
                <a:latin typeface="Libre Franklin"/>
                <a:ea typeface="Libre Franklin"/>
                <a:cs typeface="Libre Franklin"/>
                <a:sym typeface="Libre Franklin"/>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FEFEFE"/>
                </a:solidFill>
                <a:latin typeface="Libre Franklin"/>
                <a:ea typeface="Libre Franklin"/>
                <a:cs typeface="Libre Franklin"/>
                <a:sym typeface="Libre Franklin"/>
              </a:defRPr>
            </a:lvl9pPr>
          </a:lstStyle>
          <a:p>
            <a:endParaRPr/>
          </a:p>
        </p:txBody>
      </p:sp>
      <p:sp>
        <p:nvSpPr>
          <p:cNvPr id="13" name="Google Shape;13;p16"/>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800" b="0" i="0" u="none" strike="noStrike" cap="none">
                <a:solidFill>
                  <a:srgbClr val="FFFFFF"/>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14" name="Google Shape;14;p16"/>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800" b="0" i="0" u="none" strike="noStrike" cap="none">
                <a:solidFill>
                  <a:srgbClr val="FFFFFF"/>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15" name="Google Shape;15;p16"/>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cxnSp>
        <p:nvCxnSpPr>
          <p:cNvPr id="16" name="Google Shape;16;p16"/>
          <p:cNvCxnSpPr/>
          <p:nvPr/>
        </p:nvCxnSpPr>
        <p:spPr>
          <a:xfrm>
            <a:off x="1193532" y="1897380"/>
            <a:ext cx="9966960" cy="0"/>
          </a:xfrm>
          <a:prstGeom prst="straightConnector1">
            <a:avLst/>
          </a:prstGeom>
          <a:noFill/>
          <a:ln w="12700" cap="flat" cmpd="sng">
            <a:solidFill>
              <a:srgbClr val="FEFEFE"/>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
        <p:cNvGrpSpPr/>
        <p:nvPr/>
      </p:nvGrpSpPr>
      <p:grpSpPr>
        <a:xfrm>
          <a:off x="0" y="0"/>
          <a:ext cx="0" cy="0"/>
          <a:chOff x="0" y="0"/>
          <a:chExt cx="0" cy="0"/>
        </a:xfrm>
      </p:grpSpPr>
      <p:sp>
        <p:nvSpPr>
          <p:cNvPr id="26" name="Google Shape;26;p15"/>
          <p:cNvSpPr/>
          <p:nvPr/>
        </p:nvSpPr>
        <p:spPr>
          <a:xfrm>
            <a:off x="3175" y="6400800"/>
            <a:ext cx="12188825" cy="457200"/>
          </a:xfrm>
          <a:prstGeom prst="rect">
            <a:avLst/>
          </a:prstGeom>
          <a:solidFill>
            <a:srgbClr val="26262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1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Clr>
                <a:srgbClr val="3F3F3F"/>
              </a:buClr>
              <a:buSzPts val="4700"/>
              <a:buFont typeface="Bookman Old Style"/>
              <a:buNone/>
              <a:defRPr sz="4700" b="0" i="0" u="none" strike="noStrike" cap="none">
                <a:solidFill>
                  <a:srgbClr val="3F3F3F"/>
                </a:solidFill>
                <a:latin typeface="Bookman Old Style"/>
                <a:ea typeface="Bookman Old Style"/>
                <a:cs typeface="Bookman Old Style"/>
                <a:sym typeface="Bookman Old Style"/>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8" name="Google Shape;28;p15"/>
          <p:cNvSpPr txBox="1">
            <a:spLocks noGrp="1"/>
          </p:cNvSpPr>
          <p:nvPr>
            <p:ph type="body" idx="1"/>
          </p:nvPr>
        </p:nvSpPr>
        <p:spPr>
          <a:xfrm>
            <a:off x="1097280" y="2108201"/>
            <a:ext cx="10058400" cy="3760891"/>
          </a:xfrm>
          <a:prstGeom prst="rect">
            <a:avLst/>
          </a:prstGeom>
          <a:noFill/>
          <a:ln>
            <a:noFill/>
          </a:ln>
        </p:spPr>
        <p:txBody>
          <a:bodyPr spcFirstLastPara="1" wrap="square" lIns="0" tIns="45700" rIns="0" bIns="45700" anchor="t" anchorCtr="0">
            <a:normAutofit/>
          </a:bodyPr>
          <a:lstStyle>
            <a:lvl1pPr marL="457200" marR="0" lvl="0" indent="-349250" algn="l" rtl="0">
              <a:lnSpc>
                <a:spcPct val="110000"/>
              </a:lnSpc>
              <a:spcBef>
                <a:spcPts val="1200"/>
              </a:spcBef>
              <a:spcAft>
                <a:spcPts val="0"/>
              </a:spcAft>
              <a:buClr>
                <a:schemeClr val="accent1"/>
              </a:buClr>
              <a:buSzPts val="1900"/>
              <a:buFont typeface="Calibri"/>
              <a:buChar char=" "/>
              <a:defRPr sz="1900" b="0" i="0" u="none" strike="noStrike" cap="none">
                <a:solidFill>
                  <a:srgbClr val="3F3F3F"/>
                </a:solidFill>
                <a:latin typeface="Libre Franklin"/>
                <a:ea typeface="Libre Franklin"/>
                <a:cs typeface="Libre Franklin"/>
                <a:sym typeface="Libre Franklin"/>
              </a:defRPr>
            </a:lvl1pPr>
            <a:lvl2pPr marL="914400" marR="0" lvl="1" indent="-336550" algn="l" rtl="0">
              <a:lnSpc>
                <a:spcPct val="100000"/>
              </a:lnSpc>
              <a:spcBef>
                <a:spcPts val="200"/>
              </a:spcBef>
              <a:spcAft>
                <a:spcPts val="0"/>
              </a:spcAft>
              <a:buClr>
                <a:srgbClr val="3F3F3F"/>
              </a:buClr>
              <a:buSzPts val="1700"/>
              <a:buFont typeface="Calibri"/>
              <a:buChar char="◦"/>
              <a:defRPr sz="1700" b="0" i="0" u="none" strike="noStrike" cap="none">
                <a:solidFill>
                  <a:srgbClr val="3F3F3F"/>
                </a:solidFill>
                <a:latin typeface="Libre Franklin"/>
                <a:ea typeface="Libre Franklin"/>
                <a:cs typeface="Libre Franklin"/>
                <a:sym typeface="Libre Franklin"/>
              </a:defRPr>
            </a:lvl2pPr>
            <a:lvl3pPr marL="1371600" marR="0" lvl="2" indent="-311150" algn="l" rtl="0">
              <a:lnSpc>
                <a:spcPct val="100000"/>
              </a:lnSpc>
              <a:spcBef>
                <a:spcPts val="400"/>
              </a:spcBef>
              <a:spcAft>
                <a:spcPts val="0"/>
              </a:spcAft>
              <a:buClr>
                <a:srgbClr val="3F3F3F"/>
              </a:buClr>
              <a:buSzPts val="1300"/>
              <a:buFont typeface="Calibri"/>
              <a:buChar char="◦"/>
              <a:defRPr sz="1300" b="0" i="0" u="none" strike="noStrike" cap="none">
                <a:solidFill>
                  <a:srgbClr val="3F3F3F"/>
                </a:solidFill>
                <a:latin typeface="Libre Franklin"/>
                <a:ea typeface="Libre Franklin"/>
                <a:cs typeface="Libre Franklin"/>
                <a:sym typeface="Libre Franklin"/>
              </a:defRPr>
            </a:lvl3pPr>
            <a:lvl4pPr marL="1828800" marR="0" lvl="3" indent="-311150" algn="l" rtl="0">
              <a:lnSpc>
                <a:spcPct val="100000"/>
              </a:lnSpc>
              <a:spcBef>
                <a:spcPts val="400"/>
              </a:spcBef>
              <a:spcAft>
                <a:spcPts val="0"/>
              </a:spcAft>
              <a:buClr>
                <a:srgbClr val="3F3F3F"/>
              </a:buClr>
              <a:buSzPts val="1300"/>
              <a:buFont typeface="Calibri"/>
              <a:buChar char="◦"/>
              <a:defRPr sz="1300" b="0" i="0" u="none" strike="noStrike" cap="none">
                <a:solidFill>
                  <a:srgbClr val="3F3F3F"/>
                </a:solidFill>
                <a:latin typeface="Libre Franklin"/>
                <a:ea typeface="Libre Franklin"/>
                <a:cs typeface="Libre Franklin"/>
                <a:sym typeface="Libre Franklin"/>
              </a:defRPr>
            </a:lvl4pPr>
            <a:lvl5pPr marL="2286000" marR="0" lvl="4" indent="-311150" algn="l" rtl="0">
              <a:lnSpc>
                <a:spcPct val="100000"/>
              </a:lnSpc>
              <a:spcBef>
                <a:spcPts val="400"/>
              </a:spcBef>
              <a:spcAft>
                <a:spcPts val="0"/>
              </a:spcAft>
              <a:buClr>
                <a:srgbClr val="3F3F3F"/>
              </a:buClr>
              <a:buSzPts val="1300"/>
              <a:buFont typeface="Calibri"/>
              <a:buChar char="◦"/>
              <a:defRPr sz="1300" b="0" i="0" u="none" strike="noStrike" cap="none">
                <a:solidFill>
                  <a:srgbClr val="3F3F3F"/>
                </a:solidFill>
                <a:latin typeface="Libre Franklin"/>
                <a:ea typeface="Libre Franklin"/>
                <a:cs typeface="Libre Franklin"/>
                <a:sym typeface="Libre Franklin"/>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Libre Franklin"/>
                <a:ea typeface="Libre Franklin"/>
                <a:cs typeface="Libre Franklin"/>
                <a:sym typeface="Libre Franklin"/>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Libre Franklin"/>
                <a:ea typeface="Libre Franklin"/>
                <a:cs typeface="Libre Franklin"/>
                <a:sym typeface="Libre Franklin"/>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Libre Franklin"/>
                <a:ea typeface="Libre Franklin"/>
                <a:cs typeface="Libre Franklin"/>
                <a:sym typeface="Libre Franklin"/>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Libre Franklin"/>
                <a:ea typeface="Libre Franklin"/>
                <a:cs typeface="Libre Franklin"/>
                <a:sym typeface="Libre Franklin"/>
              </a:defRPr>
            </a:lvl9pPr>
          </a:lstStyle>
          <a:p>
            <a:endParaRPr/>
          </a:p>
        </p:txBody>
      </p:sp>
      <p:sp>
        <p:nvSpPr>
          <p:cNvPr id="29" name="Google Shape;29;p15"/>
          <p:cNvSpPr txBox="1">
            <a:spLocks noGrp="1"/>
          </p:cNvSpPr>
          <p:nvPr>
            <p:ph type="dt" idx="10"/>
          </p:nvPr>
        </p:nvSpPr>
        <p:spPr>
          <a:xfrm>
            <a:off x="8218426" y="6446838"/>
            <a:ext cx="258485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800" b="0" i="0" u="none" strike="noStrike" cap="none">
                <a:solidFill>
                  <a:srgbClr val="FFFFFF"/>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30" name="Google Shape;30;p15"/>
          <p:cNvSpPr txBox="1">
            <a:spLocks noGrp="1"/>
          </p:cNvSpPr>
          <p:nvPr>
            <p:ph type="ftr" idx="11"/>
          </p:nvPr>
        </p:nvSpPr>
        <p:spPr>
          <a:xfrm>
            <a:off x="1097279" y="6446838"/>
            <a:ext cx="6818262"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800" b="0" i="0" u="none" strike="noStrike" cap="none">
                <a:solidFill>
                  <a:srgbClr val="FFFFFF"/>
                </a:solidFill>
                <a:latin typeface="Libre Franklin"/>
                <a:ea typeface="Libre Franklin"/>
                <a:cs typeface="Libre Franklin"/>
                <a:sym typeface="Libre Frankli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31" name="Google Shape;31;p15"/>
          <p:cNvSpPr txBox="1">
            <a:spLocks noGrp="1"/>
          </p:cNvSpPr>
          <p:nvPr>
            <p:ph type="sldNum" idx="12"/>
          </p:nvPr>
        </p:nvSpPr>
        <p:spPr>
          <a:xfrm>
            <a:off x="10993582" y="6446838"/>
            <a:ext cx="780010" cy="365125"/>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SzPts val="800"/>
              <a:buFont typeface="Arial"/>
              <a:buNone/>
              <a:defRPr sz="800" b="0" i="0" u="none" strike="noStrike" cap="none">
                <a:solidFill>
                  <a:srgbClr val="FFFFFF"/>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t>‹#›</a:t>
            </a:fld>
            <a:endParaRPr/>
          </a:p>
        </p:txBody>
      </p:sp>
      <p:cxnSp>
        <p:nvCxnSpPr>
          <p:cNvPr id="32" name="Google Shape;32;p15"/>
          <p:cNvCxnSpPr/>
          <p:nvPr/>
        </p:nvCxnSpPr>
        <p:spPr>
          <a:xfrm>
            <a:off x="1193532" y="1897380"/>
            <a:ext cx="9966960" cy="0"/>
          </a:xfrm>
          <a:prstGeom prst="straightConnector1">
            <a:avLst/>
          </a:prstGeom>
          <a:noFill/>
          <a:ln w="12700" cap="flat" cmpd="sng">
            <a:solidFill>
              <a:srgbClr val="3F3F3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78"/>
        <p:cNvGrpSpPr/>
        <p:nvPr/>
      </p:nvGrpSpPr>
      <p:grpSpPr>
        <a:xfrm>
          <a:off x="0" y="0"/>
          <a:ext cx="0" cy="0"/>
          <a:chOff x="0" y="0"/>
          <a:chExt cx="0" cy="0"/>
        </a:xfrm>
      </p:grpSpPr>
      <p:sp>
        <p:nvSpPr>
          <p:cNvPr id="79" name="Google Shape;79;p1"/>
          <p:cNvSpPr/>
          <p:nvPr/>
        </p:nvSpPr>
        <p:spPr>
          <a:xfrm>
            <a:off x="1" y="0"/>
            <a:ext cx="12188726" cy="6858975"/>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Libre Franklin"/>
              <a:buNone/>
            </a:pPr>
            <a:endParaRPr sz="1800" b="0" i="0" u="none" strike="noStrike" cap="none">
              <a:solidFill>
                <a:srgbClr val="FFFFFF"/>
              </a:solidFill>
              <a:latin typeface="Libre Franklin"/>
              <a:ea typeface="Libre Franklin"/>
              <a:cs typeface="Libre Franklin"/>
              <a:sym typeface="Libre Franklin"/>
            </a:endParaRPr>
          </a:p>
        </p:txBody>
      </p:sp>
      <p:pic>
        <p:nvPicPr>
          <p:cNvPr id="80" name="Google Shape;80;p1" descr="A close up of a piece of paper with a pencil laying on top"/>
          <p:cNvPicPr preferRelativeResize="0"/>
          <p:nvPr/>
        </p:nvPicPr>
        <p:blipFill rotWithShape="1">
          <a:blip r:embed="rId3">
            <a:alphaModFix/>
          </a:blip>
          <a:srcRect/>
          <a:stretch/>
        </p:blipFill>
        <p:spPr>
          <a:xfrm>
            <a:off x="20" y="0"/>
            <a:ext cx="12191980" cy="6858000"/>
          </a:xfrm>
          <a:prstGeom prst="rect">
            <a:avLst/>
          </a:prstGeom>
          <a:noFill/>
          <a:ln>
            <a:noFill/>
          </a:ln>
        </p:spPr>
      </p:pic>
      <p:sp>
        <p:nvSpPr>
          <p:cNvPr id="81" name="Google Shape;81;p1"/>
          <p:cNvSpPr/>
          <p:nvPr/>
        </p:nvSpPr>
        <p:spPr>
          <a:xfrm>
            <a:off x="7912607" y="1238442"/>
            <a:ext cx="3635926" cy="4355751"/>
          </a:xfrm>
          <a:prstGeom prst="rect">
            <a:avLst/>
          </a:prstGeom>
          <a:solidFill>
            <a:schemeClr val="dk1">
              <a:alpha val="8431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Libre Franklin"/>
              <a:buNone/>
            </a:pPr>
            <a:endParaRPr sz="1800" b="0" i="0" u="none" strike="noStrike" cap="none">
              <a:solidFill>
                <a:srgbClr val="FFFFFF"/>
              </a:solidFill>
              <a:latin typeface="Libre Franklin"/>
              <a:ea typeface="Libre Franklin"/>
              <a:cs typeface="Libre Franklin"/>
              <a:sym typeface="Libre Franklin"/>
            </a:endParaRPr>
          </a:p>
        </p:txBody>
      </p:sp>
      <p:sp>
        <p:nvSpPr>
          <p:cNvPr id="82" name="Google Shape;82;p1"/>
          <p:cNvSpPr txBox="1">
            <a:spLocks noGrp="1"/>
          </p:cNvSpPr>
          <p:nvPr>
            <p:ph type="ctrTitle"/>
          </p:nvPr>
        </p:nvSpPr>
        <p:spPr>
          <a:xfrm>
            <a:off x="8123416" y="1475233"/>
            <a:ext cx="3214307" cy="267542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1800"/>
              <a:buFont typeface="Bookman Old Style"/>
              <a:buNone/>
            </a:pPr>
            <a:br>
              <a:rPr lang="en-US" sz="1800" b="1" dirty="0">
                <a:solidFill>
                  <a:schemeClr val="lt1"/>
                </a:solidFill>
              </a:rPr>
            </a:br>
            <a:r>
              <a:rPr lang="en-US" sz="1800" dirty="0">
                <a:solidFill>
                  <a:schemeClr val="lt1"/>
                </a:solidFill>
              </a:rPr>
              <a:t>Developer</a:t>
            </a:r>
            <a:r>
              <a:rPr lang="en-US" sz="1800" b="1" dirty="0">
                <a:solidFill>
                  <a:schemeClr val="lt1"/>
                </a:solidFill>
              </a:rPr>
              <a:t>:</a:t>
            </a:r>
            <a:br>
              <a:rPr lang="en-US" sz="1800" dirty="0">
                <a:solidFill>
                  <a:schemeClr val="lt1"/>
                </a:solidFill>
              </a:rPr>
            </a:br>
            <a:r>
              <a:rPr lang="en-US" sz="1800" dirty="0">
                <a:solidFill>
                  <a:schemeClr val="lt1"/>
                </a:solidFill>
              </a:rPr>
              <a:t>Ananth</a:t>
            </a:r>
            <a:endParaRPr sz="1800" dirty="0">
              <a:solidFill>
                <a:schemeClr val="lt1"/>
              </a:solidFill>
            </a:endParaRPr>
          </a:p>
        </p:txBody>
      </p:sp>
      <p:sp>
        <p:nvSpPr>
          <p:cNvPr id="83" name="Google Shape;83;p1"/>
          <p:cNvSpPr txBox="1">
            <a:spLocks noGrp="1"/>
          </p:cNvSpPr>
          <p:nvPr>
            <p:ph type="subTitle" idx="1"/>
          </p:nvPr>
        </p:nvSpPr>
        <p:spPr>
          <a:xfrm>
            <a:off x="8127750" y="4608576"/>
            <a:ext cx="3205640" cy="774186"/>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600"/>
              <a:buNone/>
            </a:pPr>
            <a:r>
              <a:rPr lang="en-US" sz="1600" dirty="0"/>
              <a:t>CV1</a:t>
            </a:r>
            <a:endParaRPr lang="en-US" dirty="0"/>
          </a:p>
        </p:txBody>
      </p:sp>
      <p:cxnSp>
        <p:nvCxnSpPr>
          <p:cNvPr id="84" name="Google Shape;84;p1"/>
          <p:cNvCxnSpPr/>
          <p:nvPr/>
        </p:nvCxnSpPr>
        <p:spPr>
          <a:xfrm>
            <a:off x="8176090" y="4508519"/>
            <a:ext cx="3108960" cy="0"/>
          </a:xfrm>
          <a:prstGeom prst="straightConnector1">
            <a:avLst/>
          </a:prstGeom>
          <a:noFill/>
          <a:ln w="19050" cap="flat" cmpd="sng">
            <a:solidFill>
              <a:schemeClr val="accent1"/>
            </a:solidFill>
            <a:prstDash val="solid"/>
            <a:round/>
            <a:headEnd type="none" w="sm" len="sm"/>
            <a:tailEnd type="none" w="sm" len="sm"/>
          </a:ln>
        </p:spPr>
      </p:cxnSp>
      <p:sp>
        <p:nvSpPr>
          <p:cNvPr id="85" name="Google Shape;85;p1"/>
          <p:cNvSpPr/>
          <p:nvPr/>
        </p:nvSpPr>
        <p:spPr>
          <a:xfrm>
            <a:off x="1" y="6400800"/>
            <a:ext cx="12192000" cy="457200"/>
          </a:xfrm>
          <a:prstGeom prst="rect">
            <a:avLst/>
          </a:prstGeom>
          <a:solidFill>
            <a:srgbClr val="262626">
              <a:alpha val="9450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1"/>
          <p:cNvSpPr txBox="1"/>
          <p:nvPr/>
        </p:nvSpPr>
        <p:spPr>
          <a:xfrm>
            <a:off x="3273" y="5034"/>
            <a:ext cx="12185453" cy="1021977"/>
          </a:xfrm>
          <a:prstGeom prst="rect">
            <a:avLst/>
          </a:prstGeom>
          <a:noFill/>
          <a:ln>
            <a:noFill/>
          </a:ln>
        </p:spPr>
        <p:txBody>
          <a:bodyPr spcFirstLastPara="1" wrap="square" lIns="91425" tIns="45700" rIns="91425" bIns="45700" anchor="b" anchorCtr="0">
            <a:normAutofit lnSpcReduction="10000"/>
          </a:bodyPr>
          <a:lstStyle/>
          <a:p>
            <a:pPr marL="0" marR="0" lvl="0" indent="0" algn="ctr" rtl="0">
              <a:lnSpc>
                <a:spcPct val="90000"/>
              </a:lnSpc>
              <a:spcBef>
                <a:spcPts val="0"/>
              </a:spcBef>
              <a:spcAft>
                <a:spcPts val="0"/>
              </a:spcAft>
              <a:buClr>
                <a:schemeClr val="dk1"/>
              </a:buClr>
              <a:buSzPts val="4000"/>
              <a:buFont typeface="Bookman Old Style"/>
              <a:buNone/>
            </a:pPr>
            <a:r>
              <a:rPr lang="en-US" sz="4000" b="1" i="0" u="none" strike="noStrike" cap="none">
                <a:solidFill>
                  <a:schemeClr val="dk1"/>
                </a:solidFill>
                <a:latin typeface="Bookman Old Style"/>
                <a:ea typeface="Bookman Old Style"/>
                <a:cs typeface="Bookman Old Style"/>
                <a:sym typeface="Bookman Old Style"/>
              </a:rPr>
              <a:t>Pneumonia Detection</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0"/>
              </a:spcBef>
              <a:spcAft>
                <a:spcPts val="0"/>
              </a:spcAft>
              <a:buClr>
                <a:schemeClr val="dk1"/>
              </a:buClr>
              <a:buSzPts val="3200"/>
              <a:buFont typeface="Bookman Old Style"/>
              <a:buNone/>
            </a:pPr>
            <a:r>
              <a:rPr lang="en-US" sz="3200" b="1" i="0" u="none" strike="noStrike" cap="none">
                <a:solidFill>
                  <a:schemeClr val="dk1"/>
                </a:solidFill>
                <a:latin typeface="Bookman Old Style"/>
                <a:ea typeface="Bookman Old Style"/>
                <a:cs typeface="Bookman Old Style"/>
                <a:sym typeface="Bookman Old Style"/>
              </a:rPr>
              <a:t>Capstone Project Final Report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7"/>
          <p:cNvSpPr txBox="1">
            <a:spLocks noGrp="1"/>
          </p:cNvSpPr>
          <p:nvPr>
            <p:ph type="title" idx="4294967295"/>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3F3F3F"/>
              </a:buClr>
              <a:buSzPts val="2800"/>
              <a:buFont typeface="Calibri"/>
              <a:buNone/>
            </a:pPr>
            <a:r>
              <a:rPr lang="en-US" sz="2800" dirty="0">
                <a:latin typeface="Calibri"/>
                <a:ea typeface="Calibri"/>
                <a:cs typeface="Calibri"/>
                <a:sym typeface="Calibri"/>
              </a:rPr>
              <a:t>Summary of Problem Statement, Data, and Findings</a:t>
            </a:r>
            <a:endParaRPr sz="2800" dirty="0">
              <a:latin typeface="Calibri"/>
              <a:ea typeface="Calibri"/>
              <a:cs typeface="Calibri"/>
              <a:sym typeface="Calibri"/>
            </a:endParaRPr>
          </a:p>
        </p:txBody>
      </p:sp>
      <p:sp>
        <p:nvSpPr>
          <p:cNvPr id="92" name="Google Shape;92;p27"/>
          <p:cNvSpPr txBox="1"/>
          <p:nvPr/>
        </p:nvSpPr>
        <p:spPr>
          <a:xfrm>
            <a:off x="-215153" y="2143033"/>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3200"/>
              <a:buFont typeface="Bookman Old Style"/>
              <a:buNone/>
            </a:pPr>
            <a:endParaRPr sz="3200" b="0" i="0" u="none" strike="noStrike" cap="none">
              <a:solidFill>
                <a:srgbClr val="3F3F3F"/>
              </a:solidFill>
              <a:latin typeface="Bookman Old Style"/>
              <a:ea typeface="Bookman Old Style"/>
              <a:cs typeface="Bookman Old Style"/>
              <a:sym typeface="Bookman Old Style"/>
            </a:endParaRPr>
          </a:p>
        </p:txBody>
      </p:sp>
      <p:sp>
        <p:nvSpPr>
          <p:cNvPr id="93" name="Google Shape;93;p27"/>
          <p:cNvSpPr txBox="1"/>
          <p:nvPr/>
        </p:nvSpPr>
        <p:spPr>
          <a:xfrm>
            <a:off x="376518" y="1019532"/>
            <a:ext cx="11439000" cy="5078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solidFill>
                  <a:schemeClr val="dk1"/>
                </a:solidFill>
                <a:latin typeface="Calibri"/>
                <a:ea typeface="Calibri"/>
                <a:cs typeface="Calibri"/>
                <a:sym typeface="Calibri"/>
              </a:rPr>
              <a:t>This project focuses on detecting pneumonia in chest X-ray images using deep learning techniques. The primary goal is to develop a robust model that can accurately classify images as either pneumonia or normal. The dataset used for this project consists of labeled DICOM images of chest X-rays. The initial findings indicate potential challenges related to the variability in image quality and class imbalance, but preliminary results suggest that deep learning models are promising for achieving high accuracy.</a:t>
            </a:r>
            <a:endParaRPr dirty="0"/>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dirty="0">
                <a:solidFill>
                  <a:schemeClr val="dk1"/>
                </a:solidFill>
                <a:latin typeface="Calibri"/>
                <a:ea typeface="Calibri"/>
                <a:cs typeface="Calibri"/>
                <a:sym typeface="Calibri"/>
              </a:rPr>
              <a:t>The dataset contains 26,684 DICOM chest X-ray images, with labels indicating pneumonia presence. There is a notable class imbalance, with 22.5% pneumonia cases.</a:t>
            </a:r>
            <a:endParaRPr dirty="0"/>
          </a:p>
          <a:p>
            <a:pPr marL="0" marR="0" lvl="0" indent="0" algn="l" rtl="0">
              <a:lnSpc>
                <a:spcPct val="100000"/>
              </a:lnSpc>
              <a:spcBef>
                <a:spcPts val="0"/>
              </a:spcBef>
              <a:spcAft>
                <a:spcPts val="0"/>
              </a:spcAft>
              <a:buNone/>
            </a:pP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dirty="0">
                <a:solidFill>
                  <a:schemeClr val="dk1"/>
                </a:solidFill>
                <a:latin typeface="Calibri"/>
                <a:ea typeface="Calibri"/>
                <a:cs typeface="Calibri"/>
                <a:sym typeface="Calibri"/>
              </a:rPr>
              <a:t>Findings: </a:t>
            </a:r>
            <a:r>
              <a:rPr lang="en-US" sz="1200" b="0" i="0" u="none" strike="noStrike" cap="none" dirty="0">
                <a:solidFill>
                  <a:schemeClr val="dk1"/>
                </a:solidFill>
                <a:latin typeface="Calibri"/>
                <a:ea typeface="Calibri"/>
                <a:cs typeface="Calibri"/>
                <a:sym typeface="Calibri"/>
              </a:rPr>
              <a:t>Several convolutional neural network (CNN) models were trained, including baseline CNNs and transfer learning models like ResNet50. Data augmentation and L2 regularization improved model performance. The final model achieved 75.95% accuracy with a 0.5141 recall score using a fine-tuned ResNet50 model .</a:t>
            </a:r>
            <a:endParaRPr dirty="0"/>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solidFill>
                  <a:schemeClr val="dk1"/>
                </a:solidFill>
                <a:latin typeface="Calibri"/>
                <a:ea typeface="Calibri"/>
                <a:cs typeface="Calibri"/>
                <a:sym typeface="Calibri"/>
              </a:rPr>
              <a:t>Following are the data given for this model development. We have DICOM images and CSV files as input datasets.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1" i="0" u="none" strike="noStrike" cap="none" dirty="0">
                <a:solidFill>
                  <a:schemeClr val="dk1"/>
                </a:solidFill>
                <a:latin typeface="Calibri"/>
                <a:ea typeface="Calibri"/>
                <a:cs typeface="Calibri"/>
                <a:sym typeface="Calibri"/>
              </a:rPr>
              <a:t>File descriptions</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200"/>
              <a:buFont typeface="Courier New"/>
              <a:buChar char="o"/>
            </a:pPr>
            <a:r>
              <a:rPr lang="en-US" sz="1200" b="1" i="0" u="none" strike="noStrike" cap="none" dirty="0">
                <a:solidFill>
                  <a:schemeClr val="dk1"/>
                </a:solidFill>
                <a:latin typeface="Calibri"/>
                <a:ea typeface="Calibri"/>
                <a:cs typeface="Calibri"/>
                <a:sym typeface="Calibri"/>
              </a:rPr>
              <a:t>stage_2_train.csv</a:t>
            </a:r>
            <a:r>
              <a:rPr lang="en-US" sz="1200" b="0" i="0" u="none" strike="noStrike" cap="none" dirty="0">
                <a:solidFill>
                  <a:schemeClr val="dk1"/>
                </a:solidFill>
                <a:latin typeface="Calibri"/>
                <a:ea typeface="Calibri"/>
                <a:cs typeface="Calibri"/>
                <a:sym typeface="Calibri"/>
              </a:rPr>
              <a:t> - the training set. Contains </a:t>
            </a:r>
            <a:r>
              <a:rPr lang="en-US" sz="1200" b="0" i="0" u="none" strike="noStrike" cap="none" dirty="0" err="1">
                <a:solidFill>
                  <a:schemeClr val="dk1"/>
                </a:solidFill>
                <a:latin typeface="Calibri"/>
                <a:ea typeface="Calibri"/>
                <a:cs typeface="Calibri"/>
                <a:sym typeface="Calibri"/>
              </a:rPr>
              <a:t>patientIds</a:t>
            </a:r>
            <a:r>
              <a:rPr lang="en-US" sz="1200" b="0" i="0" u="none" strike="noStrike" cap="none" dirty="0">
                <a:solidFill>
                  <a:schemeClr val="dk1"/>
                </a:solidFill>
                <a:latin typeface="Calibri"/>
                <a:ea typeface="Calibri"/>
                <a:cs typeface="Calibri"/>
                <a:sym typeface="Calibri"/>
              </a:rPr>
              <a:t> and bounding box / target information.</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200"/>
              <a:buFont typeface="Courier New"/>
              <a:buChar char="o"/>
            </a:pPr>
            <a:r>
              <a:rPr lang="en-US" sz="1200" b="1" i="0" u="none" strike="noStrike" cap="none" dirty="0">
                <a:solidFill>
                  <a:schemeClr val="dk1"/>
                </a:solidFill>
                <a:latin typeface="Calibri"/>
                <a:ea typeface="Calibri"/>
                <a:cs typeface="Calibri"/>
                <a:sym typeface="Calibri"/>
              </a:rPr>
              <a:t>stage_2_sample_submission.csv </a:t>
            </a:r>
            <a:r>
              <a:rPr lang="en-US" sz="1200" b="0" i="0" u="none" strike="noStrike" cap="none" dirty="0">
                <a:solidFill>
                  <a:schemeClr val="dk1"/>
                </a:solidFill>
                <a:latin typeface="Calibri"/>
                <a:ea typeface="Calibri"/>
                <a:cs typeface="Calibri"/>
                <a:sym typeface="Calibri"/>
              </a:rPr>
              <a:t>- a sample submission file in the correct format. Contains </a:t>
            </a:r>
            <a:r>
              <a:rPr lang="en-US" sz="1200" b="0" i="0" u="none" strike="noStrike" cap="none" dirty="0" err="1">
                <a:solidFill>
                  <a:schemeClr val="dk1"/>
                </a:solidFill>
                <a:latin typeface="Calibri"/>
                <a:ea typeface="Calibri"/>
                <a:cs typeface="Calibri"/>
                <a:sym typeface="Calibri"/>
              </a:rPr>
              <a:t>patientIds</a:t>
            </a:r>
            <a:r>
              <a:rPr lang="en-US" sz="1200" b="0" i="0" u="none" strike="noStrike" cap="none" dirty="0">
                <a:solidFill>
                  <a:schemeClr val="dk1"/>
                </a:solidFill>
                <a:latin typeface="Calibri"/>
                <a:ea typeface="Calibri"/>
                <a:cs typeface="Calibri"/>
                <a:sym typeface="Calibri"/>
              </a:rPr>
              <a:t> for the test set. Note that the sample submission contains one box per image, but there is no limit to the number of bounding boxes that can be assigned to a given image.</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200"/>
              <a:buFont typeface="Courier New"/>
              <a:buChar char="o"/>
            </a:pPr>
            <a:r>
              <a:rPr lang="en-US" sz="1200" b="1" i="0" u="none" strike="noStrike" cap="none" dirty="0">
                <a:solidFill>
                  <a:schemeClr val="dk1"/>
                </a:solidFill>
                <a:latin typeface="Calibri"/>
                <a:ea typeface="Calibri"/>
                <a:cs typeface="Calibri"/>
                <a:sym typeface="Calibri"/>
              </a:rPr>
              <a:t>stage_2_detailed_class_info.csv </a:t>
            </a:r>
            <a:r>
              <a:rPr lang="en-US" sz="1200" b="0" i="0" u="none" strike="noStrike" cap="none" dirty="0">
                <a:solidFill>
                  <a:schemeClr val="dk1"/>
                </a:solidFill>
                <a:latin typeface="Calibri"/>
                <a:ea typeface="Calibri"/>
                <a:cs typeface="Calibri"/>
                <a:sym typeface="Calibri"/>
              </a:rPr>
              <a:t>- provides detailed information about the type of positive or negative class for each image.</a:t>
            </a:r>
            <a:endParaRPr sz="1400" b="0" i="0" u="none" strike="noStrike" cap="none" dirty="0">
              <a:solidFill>
                <a:srgbClr val="000000"/>
              </a:solidFill>
              <a:latin typeface="Arial"/>
              <a:ea typeface="Arial"/>
              <a:cs typeface="Arial"/>
              <a:sym typeface="Arial"/>
            </a:endParaRPr>
          </a:p>
          <a:p>
            <a:pPr marL="285750" marR="0" lvl="0" indent="-209550" algn="l" rtl="0">
              <a:lnSpc>
                <a:spcPct val="100000"/>
              </a:lnSpc>
              <a:spcBef>
                <a:spcPts val="0"/>
              </a:spcBef>
              <a:spcAft>
                <a:spcPts val="0"/>
              </a:spcAft>
              <a:buClr>
                <a:schemeClr val="dk1"/>
              </a:buClr>
              <a:buSzPts val="1200"/>
              <a:buFont typeface="Arial"/>
              <a:buNone/>
            </a:pPr>
            <a:endParaRPr sz="1200" b="0" i="0" u="none" strike="noStrike" cap="none" dirty="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1" i="0" u="none" strike="noStrike" cap="none" dirty="0">
                <a:solidFill>
                  <a:schemeClr val="dk1"/>
                </a:solidFill>
                <a:latin typeface="Calibri"/>
                <a:ea typeface="Calibri"/>
                <a:cs typeface="Calibri"/>
                <a:sym typeface="Calibri"/>
              </a:rPr>
              <a:t>DICOM</a:t>
            </a:r>
            <a:r>
              <a:rPr lang="en-US" sz="1200" b="0" i="0" u="none" strike="noStrike" cap="none" dirty="0">
                <a:solidFill>
                  <a:schemeClr val="dk1"/>
                </a:solidFill>
                <a:latin typeface="Calibri"/>
                <a:ea typeface="Calibri"/>
                <a:cs typeface="Calibri"/>
                <a:sym typeface="Calibri"/>
              </a:rPr>
              <a:t> </a:t>
            </a:r>
            <a:r>
              <a:rPr lang="en-US" sz="1200" b="1" i="0" u="none" strike="noStrike" cap="none" dirty="0">
                <a:solidFill>
                  <a:schemeClr val="dk1"/>
                </a:solidFill>
                <a:latin typeface="Calibri"/>
                <a:ea typeface="Calibri"/>
                <a:cs typeface="Calibri"/>
                <a:sym typeface="Calibri"/>
              </a:rPr>
              <a:t>Files</a:t>
            </a:r>
            <a:r>
              <a:rPr lang="en-US" sz="1200" b="0" i="0" u="none" strike="noStrike" cap="none" dirty="0">
                <a:solidFill>
                  <a:schemeClr val="dk1"/>
                </a:solidFill>
                <a:latin typeface="Calibri"/>
                <a:ea typeface="Calibri"/>
                <a:cs typeface="Calibri"/>
                <a:sym typeface="Calibri"/>
              </a:rPr>
              <a:t>: DICOM (Digital Imaging and Communications in Medicine) is a standardized file format and protocol used in medical imaging. It ensures the exchange of information between different medical imaging equipment and systems, such as scanners, servers, workstations, and printers.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1" i="0" u="none" strike="noStrike" cap="none" dirty="0">
                <a:solidFill>
                  <a:schemeClr val="dk1"/>
                </a:solidFill>
                <a:latin typeface="Calibri"/>
                <a:ea typeface="Calibri"/>
                <a:cs typeface="Calibri"/>
                <a:sym typeface="Calibri"/>
              </a:rPr>
              <a:t>Data fields</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200"/>
              <a:buFont typeface="Courier New"/>
              <a:buChar char="o"/>
            </a:pPr>
            <a:r>
              <a:rPr lang="en-US" sz="1200" b="0" i="0" u="none" strike="noStrike" cap="none" dirty="0" err="1">
                <a:solidFill>
                  <a:schemeClr val="dk1"/>
                </a:solidFill>
                <a:latin typeface="Calibri"/>
                <a:ea typeface="Calibri"/>
                <a:cs typeface="Calibri"/>
                <a:sym typeface="Calibri"/>
              </a:rPr>
              <a:t>patientId</a:t>
            </a:r>
            <a:r>
              <a:rPr lang="en-US" sz="1200" b="0" i="0" u="none" strike="noStrike" cap="none" dirty="0">
                <a:solidFill>
                  <a:schemeClr val="dk1"/>
                </a:solidFill>
                <a:latin typeface="Calibri"/>
                <a:ea typeface="Calibri"/>
                <a:cs typeface="Calibri"/>
                <a:sym typeface="Calibri"/>
              </a:rPr>
              <a:t> _- A </a:t>
            </a:r>
            <a:r>
              <a:rPr lang="en-US" sz="1200" b="0" i="0" u="none" strike="noStrike" cap="none" dirty="0" err="1">
                <a:solidFill>
                  <a:schemeClr val="dk1"/>
                </a:solidFill>
                <a:latin typeface="Calibri"/>
                <a:ea typeface="Calibri"/>
                <a:cs typeface="Calibri"/>
                <a:sym typeface="Calibri"/>
              </a:rPr>
              <a:t>patientId</a:t>
            </a:r>
            <a:r>
              <a:rPr lang="en-US" sz="1200" b="0" i="0" u="none" strike="noStrike" cap="none" dirty="0">
                <a:solidFill>
                  <a:schemeClr val="dk1"/>
                </a:solidFill>
                <a:latin typeface="Calibri"/>
                <a:ea typeface="Calibri"/>
                <a:cs typeface="Calibri"/>
                <a:sym typeface="Calibri"/>
              </a:rPr>
              <a:t>. Each </a:t>
            </a:r>
            <a:r>
              <a:rPr lang="en-US" sz="1200" b="0" i="0" u="none" strike="noStrike" cap="none" dirty="0" err="1">
                <a:solidFill>
                  <a:schemeClr val="dk1"/>
                </a:solidFill>
                <a:latin typeface="Calibri"/>
                <a:ea typeface="Calibri"/>
                <a:cs typeface="Calibri"/>
                <a:sym typeface="Calibri"/>
              </a:rPr>
              <a:t>patientId</a:t>
            </a:r>
            <a:r>
              <a:rPr lang="en-US" sz="1200" b="0" i="0" u="none" strike="noStrike" cap="none" dirty="0">
                <a:solidFill>
                  <a:schemeClr val="dk1"/>
                </a:solidFill>
                <a:latin typeface="Calibri"/>
                <a:ea typeface="Calibri"/>
                <a:cs typeface="Calibri"/>
                <a:sym typeface="Calibri"/>
              </a:rPr>
              <a:t> corresponds to a unique image.</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200"/>
              <a:buFont typeface="Courier New"/>
              <a:buChar char="o"/>
            </a:pPr>
            <a:r>
              <a:rPr lang="en-US" sz="1200" b="0" i="0" u="none" strike="noStrike" cap="none" dirty="0">
                <a:solidFill>
                  <a:schemeClr val="dk1"/>
                </a:solidFill>
                <a:latin typeface="Calibri"/>
                <a:ea typeface="Calibri"/>
                <a:cs typeface="Calibri"/>
                <a:sym typeface="Calibri"/>
              </a:rPr>
              <a:t>x_ - the upper-left x coordinate of the bounding box.</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200"/>
              <a:buFont typeface="Courier New"/>
              <a:buChar char="o"/>
            </a:pPr>
            <a:r>
              <a:rPr lang="en-US" sz="1200" b="0" i="0" u="none" strike="noStrike" cap="none" dirty="0">
                <a:solidFill>
                  <a:schemeClr val="dk1"/>
                </a:solidFill>
                <a:latin typeface="Calibri"/>
                <a:ea typeface="Calibri"/>
                <a:cs typeface="Calibri"/>
                <a:sym typeface="Calibri"/>
              </a:rPr>
              <a:t>y_ - the upper-left y coordinate of the bounding box.</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200"/>
              <a:buFont typeface="Courier New"/>
              <a:buChar char="o"/>
            </a:pPr>
            <a:r>
              <a:rPr lang="en-US" sz="1200" b="0" i="0" u="none" strike="noStrike" cap="none" dirty="0">
                <a:solidFill>
                  <a:schemeClr val="dk1"/>
                </a:solidFill>
                <a:latin typeface="Calibri"/>
                <a:ea typeface="Calibri"/>
                <a:cs typeface="Calibri"/>
                <a:sym typeface="Calibri"/>
              </a:rPr>
              <a:t>width_ - the width of the bounding box.</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200"/>
              <a:buFont typeface="Courier New"/>
              <a:buChar char="o"/>
            </a:pPr>
            <a:r>
              <a:rPr lang="en-US" sz="1200" b="0" i="0" u="none" strike="noStrike" cap="none" dirty="0">
                <a:solidFill>
                  <a:schemeClr val="dk1"/>
                </a:solidFill>
                <a:latin typeface="Calibri"/>
                <a:ea typeface="Calibri"/>
                <a:cs typeface="Calibri"/>
                <a:sym typeface="Calibri"/>
              </a:rPr>
              <a:t>height_ - the height of the bounding box.</a:t>
            </a:r>
            <a:endParaRPr sz="1400" b="0" i="0" u="none" strike="noStrike" cap="none" dirty="0">
              <a:solidFill>
                <a:srgbClr val="000000"/>
              </a:solidFill>
              <a:latin typeface="Arial"/>
              <a:ea typeface="Arial"/>
              <a:cs typeface="Arial"/>
              <a:sym typeface="Arial"/>
            </a:endParaRPr>
          </a:p>
          <a:p>
            <a:pPr marL="742950" marR="0" lvl="1" indent="-285750" algn="l" rtl="0">
              <a:lnSpc>
                <a:spcPct val="100000"/>
              </a:lnSpc>
              <a:spcBef>
                <a:spcPts val="0"/>
              </a:spcBef>
              <a:spcAft>
                <a:spcPts val="0"/>
              </a:spcAft>
              <a:buClr>
                <a:schemeClr val="dk1"/>
              </a:buClr>
              <a:buSzPts val="1200"/>
              <a:buFont typeface="Courier New"/>
              <a:buChar char="o"/>
            </a:pPr>
            <a:r>
              <a:rPr lang="en-US" sz="1200" b="0" i="0" u="none" strike="noStrike" cap="none" dirty="0">
                <a:solidFill>
                  <a:schemeClr val="dk1"/>
                </a:solidFill>
                <a:latin typeface="Calibri"/>
                <a:ea typeface="Calibri"/>
                <a:cs typeface="Calibri"/>
                <a:sym typeface="Calibri"/>
              </a:rPr>
              <a:t>Target_ - the binary Target, indicating whether this sample has evidence of pneumonia</a:t>
            </a:r>
            <a:endParaRPr sz="12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Summary of Problem Statement, Data, and Findings</a:t>
            </a:r>
            <a:endParaRPr sz="2800" b="0" i="0" u="none" strike="noStrike" cap="none">
              <a:solidFill>
                <a:srgbClr val="3F3F3F"/>
              </a:solidFill>
              <a:latin typeface="Calibri"/>
              <a:ea typeface="Calibri"/>
              <a:cs typeface="Calibri"/>
              <a:sym typeface="Calibri"/>
            </a:endParaRPr>
          </a:p>
        </p:txBody>
      </p:sp>
      <p:pic>
        <p:nvPicPr>
          <p:cNvPr id="99" name="Google Shape;99;p3"/>
          <p:cNvPicPr preferRelativeResize="0"/>
          <p:nvPr/>
        </p:nvPicPr>
        <p:blipFill rotWithShape="1">
          <a:blip r:embed="rId3">
            <a:alphaModFix/>
          </a:blip>
          <a:srcRect/>
          <a:stretch/>
        </p:blipFill>
        <p:spPr>
          <a:xfrm>
            <a:off x="5964116" y="3319906"/>
            <a:ext cx="6000137" cy="2641282"/>
          </a:xfrm>
          <a:prstGeom prst="rect">
            <a:avLst/>
          </a:prstGeom>
          <a:noFill/>
          <a:ln>
            <a:noFill/>
          </a:ln>
        </p:spPr>
      </p:pic>
      <p:sp>
        <p:nvSpPr>
          <p:cNvPr id="100" name="Google Shape;100;p3"/>
          <p:cNvSpPr txBox="1"/>
          <p:nvPr/>
        </p:nvSpPr>
        <p:spPr>
          <a:xfrm>
            <a:off x="376517" y="1344315"/>
            <a:ext cx="11438963" cy="1600438"/>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Calibri"/>
                <a:ea typeface="Calibri"/>
                <a:cs typeface="Calibri"/>
                <a:sym typeface="Calibri"/>
              </a:rPr>
              <a:t>Training image metadata contains following information like ‘Patient ID’, ‘Gender’, ’Age’, and ‘Image data’</a:t>
            </a:r>
            <a:endParaRPr sz="14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Calibri"/>
                <a:ea typeface="Calibri"/>
                <a:cs typeface="Calibri"/>
                <a:sym typeface="Calibri"/>
              </a:rPr>
              <a:t>There are 30227 records are available with three possible classes each like No Lung Opacity / Not Normal, Normal, Lung Opacity.</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Calibri"/>
                <a:ea typeface="Calibri"/>
                <a:cs typeface="Calibri"/>
                <a:sym typeface="Calibri"/>
              </a:rPr>
              <a:t>In this analysis we are considering only two classes whether the patient has pneumonia or not.</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Calibri"/>
                <a:ea typeface="Calibri"/>
                <a:cs typeface="Calibri"/>
                <a:sym typeface="Calibri"/>
              </a:rPr>
              <a:t>Overall 26684 patient x-ray images are available for pneumonia detection.</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Calibri"/>
                <a:ea typeface="Calibri"/>
                <a:cs typeface="Calibri"/>
                <a:sym typeface="Calibri"/>
              </a:rPr>
              <a:t>Number of duplicate rows in the class info dataset are 3543</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dirty="0">
                <a:solidFill>
                  <a:schemeClr val="dk1"/>
                </a:solidFill>
                <a:latin typeface="Calibri"/>
                <a:ea typeface="Calibri"/>
                <a:cs typeface="Calibri"/>
                <a:sym typeface="Calibri"/>
              </a:rPr>
              <a:t>Number of rows in the class info dataset after removing duplicates are 26684</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1"/>
              </a:solidFill>
              <a:latin typeface="Calibri"/>
              <a:ea typeface="Calibri"/>
              <a:cs typeface="Calibri"/>
              <a:sym typeface="Calibri"/>
            </a:endParaRPr>
          </a:p>
        </p:txBody>
      </p:sp>
      <p:pic>
        <p:nvPicPr>
          <p:cNvPr id="101" name="Google Shape;101;p3"/>
          <p:cNvPicPr preferRelativeResize="0"/>
          <p:nvPr/>
        </p:nvPicPr>
        <p:blipFill rotWithShape="1">
          <a:blip r:embed="rId4">
            <a:alphaModFix/>
          </a:blip>
          <a:srcRect/>
          <a:stretch/>
        </p:blipFill>
        <p:spPr>
          <a:xfrm>
            <a:off x="376517" y="3319906"/>
            <a:ext cx="5496744" cy="264128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4"/>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Summary of Problem Statement, Data, and Findings</a:t>
            </a:r>
            <a:endParaRPr sz="2800" b="0" i="0" u="none" strike="noStrike" cap="none">
              <a:solidFill>
                <a:srgbClr val="3F3F3F"/>
              </a:solidFill>
              <a:latin typeface="Calibri"/>
              <a:ea typeface="Calibri"/>
              <a:cs typeface="Calibri"/>
              <a:sym typeface="Calibri"/>
            </a:endParaRPr>
          </a:p>
        </p:txBody>
      </p:sp>
      <p:sp>
        <p:nvSpPr>
          <p:cNvPr id="107" name="Google Shape;107;p4"/>
          <p:cNvSpPr txBox="1"/>
          <p:nvPr/>
        </p:nvSpPr>
        <p:spPr>
          <a:xfrm>
            <a:off x="476508" y="1213009"/>
            <a:ext cx="10784541" cy="738664"/>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chemeClr val="dk1"/>
              </a:buClr>
              <a:buSzPts val="1400"/>
              <a:buFont typeface="Calibri"/>
              <a:buAutoNum type="arabicPeriod"/>
            </a:pPr>
            <a:r>
              <a:rPr lang="en-US" sz="1400" b="0" i="0" u="none" strike="noStrike" cap="none">
                <a:solidFill>
                  <a:schemeClr val="dk1"/>
                </a:solidFill>
                <a:latin typeface="Calibri"/>
                <a:ea typeface="Calibri"/>
                <a:cs typeface="Calibri"/>
                <a:sym typeface="Calibri"/>
              </a:rPr>
              <a:t>For patientIds with </a:t>
            </a:r>
            <a:r>
              <a:rPr lang="en-US" sz="1400" b="1" i="0" u="none" strike="noStrike" cap="none">
                <a:solidFill>
                  <a:schemeClr val="dk1"/>
                </a:solidFill>
                <a:latin typeface="Calibri"/>
                <a:ea typeface="Calibri"/>
                <a:cs typeface="Calibri"/>
                <a:sym typeface="Calibri"/>
              </a:rPr>
              <a:t>no predicted pneumonia / bounding boxes</a:t>
            </a:r>
            <a:r>
              <a:rPr lang="en-US" sz="1400" b="0" i="0" u="none" strike="noStrike" cap="none">
                <a:solidFill>
                  <a:schemeClr val="dk1"/>
                </a:solidFill>
                <a:latin typeface="Calibri"/>
                <a:ea typeface="Calibri"/>
                <a:cs typeface="Calibri"/>
                <a:sym typeface="Calibri"/>
              </a:rPr>
              <a:t>: 0004cfab-14fd-4e49-80ba-63a80b6bddd6,</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400"/>
              <a:buFont typeface="Calibri"/>
              <a:buAutoNum type="arabicPeriod"/>
            </a:pPr>
            <a:r>
              <a:rPr lang="en-US" sz="1400" b="0" i="0" u="none" strike="noStrike" cap="none">
                <a:solidFill>
                  <a:schemeClr val="dk1"/>
                </a:solidFill>
                <a:latin typeface="Calibri"/>
                <a:ea typeface="Calibri"/>
                <a:cs typeface="Calibri"/>
                <a:sym typeface="Calibri"/>
              </a:rPr>
              <a:t>For patientIds with </a:t>
            </a:r>
            <a:r>
              <a:rPr lang="en-US" sz="1400" b="1" i="0" u="none" strike="noStrike" cap="none">
                <a:solidFill>
                  <a:schemeClr val="dk1"/>
                </a:solidFill>
                <a:latin typeface="Calibri"/>
                <a:ea typeface="Calibri"/>
                <a:cs typeface="Calibri"/>
                <a:sym typeface="Calibri"/>
              </a:rPr>
              <a:t>a single predicted bounding box</a:t>
            </a:r>
            <a:r>
              <a:rPr lang="en-US" sz="1400" b="0" i="0" u="none" strike="noStrike" cap="none">
                <a:solidFill>
                  <a:schemeClr val="dk1"/>
                </a:solidFill>
                <a:latin typeface="Calibri"/>
                <a:ea typeface="Calibri"/>
                <a:cs typeface="Calibri"/>
                <a:sym typeface="Calibri"/>
              </a:rPr>
              <a:t>: 0004cfab-14fd-4e49-80ba-63a80b6bddd6,0.5 0 0 100 100</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400"/>
              <a:buFont typeface="Calibri"/>
              <a:buAutoNum type="arabicPeriod"/>
            </a:pPr>
            <a:r>
              <a:rPr lang="en-US" sz="1400" b="0" i="0" u="none" strike="noStrike" cap="none">
                <a:solidFill>
                  <a:schemeClr val="dk1"/>
                </a:solidFill>
                <a:latin typeface="Calibri"/>
                <a:ea typeface="Calibri"/>
                <a:cs typeface="Calibri"/>
                <a:sym typeface="Calibri"/>
              </a:rPr>
              <a:t>For patientIds with </a:t>
            </a:r>
            <a:r>
              <a:rPr lang="en-US" sz="1400" b="1" i="0" u="none" strike="noStrike" cap="none">
                <a:solidFill>
                  <a:schemeClr val="dk1"/>
                </a:solidFill>
                <a:latin typeface="Calibri"/>
                <a:ea typeface="Calibri"/>
                <a:cs typeface="Calibri"/>
                <a:sym typeface="Calibri"/>
              </a:rPr>
              <a:t>multiple predicted bounding boxes</a:t>
            </a:r>
            <a:r>
              <a:rPr lang="en-US" sz="1400" b="0" i="0" u="none" strike="noStrike" cap="none">
                <a:solidFill>
                  <a:schemeClr val="dk1"/>
                </a:solidFill>
                <a:latin typeface="Calibri"/>
                <a:ea typeface="Calibri"/>
                <a:cs typeface="Calibri"/>
                <a:sym typeface="Calibri"/>
              </a:rPr>
              <a:t>: 0004cfab-14fd-4e49-80ba-63a80b6bddd6,0.5 0 0 100 100 0.5 0 0 100 100, etc.</a:t>
            </a:r>
            <a:endParaRPr sz="1400" b="0" i="0" u="none" strike="noStrike" cap="none">
              <a:solidFill>
                <a:srgbClr val="000000"/>
              </a:solidFill>
              <a:latin typeface="Arial"/>
              <a:ea typeface="Arial"/>
              <a:cs typeface="Arial"/>
              <a:sym typeface="Arial"/>
            </a:endParaRPr>
          </a:p>
        </p:txBody>
      </p:sp>
      <p:pic>
        <p:nvPicPr>
          <p:cNvPr id="108" name="Google Shape;108;p4"/>
          <p:cNvPicPr preferRelativeResize="0"/>
          <p:nvPr/>
        </p:nvPicPr>
        <p:blipFill rotWithShape="1">
          <a:blip r:embed="rId3">
            <a:alphaModFix/>
          </a:blip>
          <a:srcRect/>
          <a:stretch/>
        </p:blipFill>
        <p:spPr>
          <a:xfrm>
            <a:off x="366750" y="2692784"/>
            <a:ext cx="4281559" cy="3248478"/>
          </a:xfrm>
          <a:prstGeom prst="rect">
            <a:avLst/>
          </a:prstGeom>
          <a:noFill/>
          <a:ln>
            <a:noFill/>
          </a:ln>
        </p:spPr>
      </p:pic>
      <p:pic>
        <p:nvPicPr>
          <p:cNvPr id="109" name="Google Shape;109;p4"/>
          <p:cNvPicPr preferRelativeResize="0"/>
          <p:nvPr/>
        </p:nvPicPr>
        <p:blipFill rotWithShape="1">
          <a:blip r:embed="rId4">
            <a:alphaModFix/>
          </a:blip>
          <a:srcRect/>
          <a:stretch/>
        </p:blipFill>
        <p:spPr>
          <a:xfrm>
            <a:off x="4648309" y="2593730"/>
            <a:ext cx="3686689" cy="3248479"/>
          </a:xfrm>
          <a:prstGeom prst="rect">
            <a:avLst/>
          </a:prstGeom>
          <a:noFill/>
          <a:ln>
            <a:noFill/>
          </a:ln>
        </p:spPr>
      </p:pic>
      <p:pic>
        <p:nvPicPr>
          <p:cNvPr id="110" name="Google Shape;110;p4"/>
          <p:cNvPicPr preferRelativeResize="0"/>
          <p:nvPr/>
        </p:nvPicPr>
        <p:blipFill rotWithShape="1">
          <a:blip r:embed="rId5">
            <a:alphaModFix/>
          </a:blip>
          <a:srcRect/>
          <a:stretch/>
        </p:blipFill>
        <p:spPr>
          <a:xfrm>
            <a:off x="8486258" y="2382560"/>
            <a:ext cx="3705742" cy="386877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8"/>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Overview of the Final Process</a:t>
            </a:r>
            <a:endParaRPr sz="2800" b="0" i="0" u="none" strike="noStrike" cap="none">
              <a:solidFill>
                <a:srgbClr val="3F3F3F"/>
              </a:solidFill>
              <a:latin typeface="Calibri"/>
              <a:ea typeface="Calibri"/>
              <a:cs typeface="Calibri"/>
              <a:sym typeface="Calibri"/>
            </a:endParaRPr>
          </a:p>
        </p:txBody>
      </p:sp>
      <p:sp>
        <p:nvSpPr>
          <p:cNvPr id="116" name="Google Shape;116;p28"/>
          <p:cNvSpPr txBox="1"/>
          <p:nvPr/>
        </p:nvSpPr>
        <p:spPr>
          <a:xfrm>
            <a:off x="510988" y="931933"/>
            <a:ext cx="11304492" cy="4154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1. Salient Features of the Data: </a:t>
            </a:r>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The dataset used in this project consists of 26,684 chest X-ray images stored in DICOM format, with labels indicating whether pneumonia is present.</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The data contains important features such as:</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Patient ID: </a:t>
            </a:r>
            <a:r>
              <a:rPr lang="en-US" sz="1200" b="0" i="0" u="none" strike="noStrike" cap="none">
                <a:solidFill>
                  <a:schemeClr val="dk1"/>
                </a:solidFill>
                <a:latin typeface="Calibri"/>
                <a:ea typeface="Calibri"/>
                <a:cs typeface="Calibri"/>
                <a:sym typeface="Calibri"/>
              </a:rPr>
              <a:t>Unique identifier for each image.</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Gender &amp; Age: </a:t>
            </a:r>
            <a:r>
              <a:rPr lang="en-US" sz="1200" b="0" i="0" u="none" strike="noStrike" cap="none">
                <a:solidFill>
                  <a:schemeClr val="dk1"/>
                </a:solidFill>
                <a:latin typeface="Calibri"/>
                <a:ea typeface="Calibri"/>
                <a:cs typeface="Calibri"/>
                <a:sym typeface="Calibri"/>
              </a:rPr>
              <a:t>Demographic information.</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Image: </a:t>
            </a:r>
            <a:r>
              <a:rPr lang="en-US" sz="1200" b="0" i="0" u="none" strike="noStrike" cap="none">
                <a:solidFill>
                  <a:schemeClr val="dk1"/>
                </a:solidFill>
                <a:latin typeface="Calibri"/>
                <a:ea typeface="Calibri"/>
                <a:cs typeface="Calibri"/>
                <a:sym typeface="Calibri"/>
              </a:rPr>
              <a:t>The raw pixel data of the X-ray.</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Bounding Box: </a:t>
            </a:r>
            <a:r>
              <a:rPr lang="en-US" sz="1200" b="0" i="0" u="none" strike="noStrike" cap="none">
                <a:solidFill>
                  <a:schemeClr val="dk1"/>
                </a:solidFill>
                <a:latin typeface="Calibri"/>
                <a:ea typeface="Calibri"/>
                <a:cs typeface="Calibri"/>
                <a:sym typeface="Calibri"/>
              </a:rPr>
              <a:t>For images containing pneumonia, a bounding box indicates the region of infection.</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2. Key challenges with the data included:</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Class Imbalance: </a:t>
            </a:r>
            <a:r>
              <a:rPr lang="en-US" sz="1200" b="0" i="0" u="none" strike="noStrike" cap="none">
                <a:solidFill>
                  <a:schemeClr val="dk1"/>
                </a:solidFill>
                <a:latin typeface="Calibri"/>
                <a:ea typeface="Calibri"/>
                <a:cs typeface="Calibri"/>
                <a:sym typeface="Calibri"/>
              </a:rPr>
              <a:t>Only 22.5% of the dataset consists of pneumonia cases, while the remaining are normal.</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Image Quality Variability: </a:t>
            </a:r>
            <a:r>
              <a:rPr lang="en-US" sz="1200" b="0" i="0" u="none" strike="noStrike" cap="none">
                <a:solidFill>
                  <a:schemeClr val="dk1"/>
                </a:solidFill>
                <a:latin typeface="Calibri"/>
                <a:ea typeface="Calibri"/>
                <a:cs typeface="Calibri"/>
                <a:sym typeface="Calibri"/>
              </a:rPr>
              <a:t>Differences in image resolution and quality across samples.</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Missing Data: </a:t>
            </a:r>
            <a:r>
              <a:rPr lang="en-US" sz="1200" b="0" i="0" u="none" strike="noStrike" cap="none">
                <a:solidFill>
                  <a:schemeClr val="dk1"/>
                </a:solidFill>
                <a:latin typeface="Calibri"/>
                <a:ea typeface="Calibri"/>
                <a:cs typeface="Calibri"/>
                <a:sym typeface="Calibri"/>
              </a:rPr>
              <a:t>Some images lacked bounding boxes, indicating no visible pneumonia.</a:t>
            </a:r>
            <a:endParaRPr/>
          </a:p>
          <a:p>
            <a:pPr marL="0" marR="0" lvl="0" indent="0" algn="l" rtl="0">
              <a:lnSpc>
                <a:spcPct val="100000"/>
              </a:lnSpc>
              <a:spcBef>
                <a:spcPts val="0"/>
              </a:spcBef>
              <a:spcAft>
                <a:spcPts val="0"/>
              </a:spcAft>
              <a:buNone/>
            </a:pPr>
            <a:endParaRPr sz="12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3. Data Preprocessing Steps: </a:t>
            </a:r>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Images were resized and normalized, and data augmentation techniques like horizontal flipping and random rotations were applied to improve model generalization. Missing values in the dataset were handled by removing duplicate records and addressing null values in features like bounding box coordinates.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Resizing</a:t>
            </a:r>
            <a:r>
              <a:rPr lang="en-US" sz="1200" b="0" i="0" u="none" strike="noStrike" cap="none">
                <a:solidFill>
                  <a:schemeClr val="dk1"/>
                </a:solidFill>
                <a:latin typeface="Calibri"/>
                <a:ea typeface="Calibri"/>
                <a:cs typeface="Calibri"/>
                <a:sym typeface="Calibri"/>
              </a:rPr>
              <a:t>: All images were resized to a consistent dimension (300x300 pixels) to maintain uniformity across inputs.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Normalization</a:t>
            </a:r>
            <a:r>
              <a:rPr lang="en-US" sz="1200" b="0" i="0" u="none" strike="noStrike" cap="none">
                <a:solidFill>
                  <a:schemeClr val="dk1"/>
                </a:solidFill>
                <a:latin typeface="Calibri"/>
                <a:ea typeface="Calibri"/>
                <a:cs typeface="Calibri"/>
                <a:sym typeface="Calibri"/>
              </a:rPr>
              <a:t>: Pixel values were normalized to a range of 0 to 1, ensuring faster convergence during training.</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Class Weights: </a:t>
            </a:r>
            <a:r>
              <a:rPr lang="en-US" sz="1200" b="0" i="0" u="none" strike="noStrike" cap="none">
                <a:solidFill>
                  <a:schemeClr val="dk1"/>
                </a:solidFill>
                <a:latin typeface="Calibri"/>
                <a:ea typeface="Calibri"/>
                <a:cs typeface="Calibri"/>
                <a:sym typeface="Calibri"/>
              </a:rPr>
              <a:t>To handle the class imbalance, class weights were calculated and used during model training.</a:t>
            </a:r>
            <a:endParaRPr sz="12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Data</a:t>
            </a:r>
            <a:r>
              <a:rPr lang="en-US" sz="1200" b="0" i="0" u="none" strike="noStrike" cap="none">
                <a:solidFill>
                  <a:schemeClr val="dk1"/>
                </a:solidFill>
                <a:latin typeface="Calibri"/>
                <a:ea typeface="Calibri"/>
                <a:cs typeface="Calibri"/>
                <a:sym typeface="Calibri"/>
              </a:rPr>
              <a:t> </a:t>
            </a:r>
            <a:r>
              <a:rPr lang="en-US" sz="1200" b="1" i="0" u="none" strike="noStrike" cap="none">
                <a:solidFill>
                  <a:schemeClr val="dk1"/>
                </a:solidFill>
                <a:latin typeface="Calibri"/>
                <a:ea typeface="Calibri"/>
                <a:cs typeface="Calibri"/>
                <a:sym typeface="Calibri"/>
              </a:rPr>
              <a:t>Augmentation</a:t>
            </a:r>
            <a:r>
              <a:rPr lang="en-US" sz="1200" b="0" i="0" u="none" strike="noStrike" cap="none">
                <a:solidFill>
                  <a:schemeClr val="dk1"/>
                </a:solidFill>
                <a:latin typeface="Calibri"/>
                <a:ea typeface="Calibri"/>
                <a:cs typeface="Calibri"/>
                <a:sym typeface="Calibri"/>
              </a:rPr>
              <a:t>: Techniques like rotation, flipping, zooming, and brightness adjustments were applied to tackle class imbalance and improve generalization​</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Class Weights: </a:t>
            </a:r>
            <a:r>
              <a:rPr lang="en-US" sz="1200" b="0" i="0" u="none" strike="noStrike" cap="none">
                <a:solidFill>
                  <a:schemeClr val="dk1"/>
                </a:solidFill>
                <a:latin typeface="Calibri"/>
                <a:ea typeface="Calibri"/>
                <a:cs typeface="Calibri"/>
                <a:sym typeface="Calibri"/>
              </a:rPr>
              <a:t>To handle the class imbalance, class weights were calculated and used during model training.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9"/>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Overview of the Final Process</a:t>
            </a:r>
            <a:endParaRPr sz="2800" b="0" i="0" u="none" strike="noStrike" cap="none">
              <a:solidFill>
                <a:srgbClr val="3F3F3F"/>
              </a:solidFill>
              <a:latin typeface="Calibri"/>
              <a:ea typeface="Calibri"/>
              <a:cs typeface="Calibri"/>
              <a:sym typeface="Calibri"/>
            </a:endParaRPr>
          </a:p>
        </p:txBody>
      </p:sp>
      <p:sp>
        <p:nvSpPr>
          <p:cNvPr id="122" name="Google Shape;122;p29"/>
          <p:cNvSpPr txBox="1"/>
          <p:nvPr/>
        </p:nvSpPr>
        <p:spPr>
          <a:xfrm>
            <a:off x="510988" y="931933"/>
            <a:ext cx="11304492" cy="581693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Multiple models and approaches were utilized in this project, focusing on convolutional neural networks (CNNs) and transfer learning to achieve the best performance.</a:t>
            </a:r>
            <a:endParaRPr/>
          </a:p>
          <a:p>
            <a:pPr marL="285750" marR="0" lvl="0" indent="-1968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1. Algorithms Used:</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CNN Models: </a:t>
            </a:r>
            <a:r>
              <a:rPr lang="en-US" sz="1200" b="0" i="0" u="none" strike="noStrike" cap="none">
                <a:solidFill>
                  <a:schemeClr val="dk1"/>
                </a:solidFill>
                <a:latin typeface="Calibri"/>
                <a:ea typeface="Calibri"/>
                <a:cs typeface="Calibri"/>
                <a:sym typeface="Calibri"/>
              </a:rPr>
              <a:t>Several versions of CNN models were built from scratch. The base model included layers of convolutional filters, max pooling, and fully connected layers with a sigmoid output for binary classification. L2 regularization was introduced to the convolutional layers to reduce overfitting by penalizing large weights. Data augmentation techniques such as rotation, flipping, zooming, and brightness adjustments were applied to increase the variability of the training data.</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Base CNN Model: </a:t>
            </a:r>
            <a:r>
              <a:rPr lang="en-US" sz="1200" b="0" i="0" u="none" strike="noStrike" cap="none">
                <a:solidFill>
                  <a:schemeClr val="dk1"/>
                </a:solidFill>
                <a:latin typeface="Calibri"/>
                <a:ea typeface="Calibri"/>
                <a:cs typeface="Calibri"/>
                <a:sym typeface="Calibri"/>
              </a:rPr>
              <a:t>A simple convolutional neural network was built as the initial model with several layers of convolutions, pooling, and fully connected layers. This provided a baseline for comparison.</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CNN with L2 Regularization</a:t>
            </a:r>
            <a:r>
              <a:rPr lang="en-US" sz="1200" b="0" i="0" u="none" strike="noStrike" cap="none">
                <a:solidFill>
                  <a:schemeClr val="dk1"/>
                </a:solidFill>
                <a:latin typeface="Calibri"/>
                <a:ea typeface="Calibri"/>
                <a:cs typeface="Calibri"/>
                <a:sym typeface="Calibri"/>
              </a:rPr>
              <a:t>: L2 regularization was applied to reduce overfitting by penalizing large weights.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CNN with Data Augmentation: </a:t>
            </a:r>
            <a:r>
              <a:rPr lang="en-US" sz="1200" b="0" i="0" u="none" strike="noStrike" cap="none">
                <a:solidFill>
                  <a:schemeClr val="dk1"/>
                </a:solidFill>
                <a:latin typeface="Calibri"/>
                <a:ea typeface="Calibri"/>
                <a:cs typeface="Calibri"/>
                <a:sym typeface="Calibri"/>
              </a:rPr>
              <a:t>Data augmentation was incorporated into the model pipeline to generate more diverse training samples, improving the model's robustness.</a:t>
            </a:r>
            <a:endParaRPr sz="12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Transfer Learning with ResNet50 and DenseNet</a:t>
            </a:r>
            <a:r>
              <a:rPr lang="en-US" sz="1200" b="0" i="0" u="none" strike="noStrike" cap="none">
                <a:solidFill>
                  <a:schemeClr val="dk1"/>
                </a:solidFill>
                <a:latin typeface="Calibri"/>
                <a:ea typeface="Calibri"/>
                <a:cs typeface="Calibri"/>
                <a:sym typeface="Calibri"/>
              </a:rPr>
              <a:t> : A pre-trained ResNet50 &amp; DenseNet model were fine-tuned, and transfer learning was implemented to leverage pre-existing knowledge from ImageNet. These models, trained on the ImageNet dataset, were fine-tuned for pneumonia detection to take advantage of existing learned features, reducing training time.</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Fine-Tuning: </a:t>
            </a:r>
            <a:r>
              <a:rPr lang="en-US" sz="1200" b="0" i="0" u="none" strike="noStrike" cap="none">
                <a:solidFill>
                  <a:schemeClr val="dk1"/>
                </a:solidFill>
                <a:latin typeface="Calibri"/>
                <a:ea typeface="Calibri"/>
                <a:cs typeface="Calibri"/>
                <a:sym typeface="Calibri"/>
              </a:rPr>
              <a:t>Both ResNet50 and DenseNet were fine-tuned by unfreezing the final layers and retraining with a smaller learning rate to capture domain-specific features.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R-CNN Model: </a:t>
            </a:r>
            <a:r>
              <a:rPr lang="en-US" sz="1200" b="0" i="0" u="none" strike="noStrike" cap="none">
                <a:solidFill>
                  <a:schemeClr val="dk1"/>
                </a:solidFill>
                <a:latin typeface="Calibri"/>
                <a:ea typeface="Calibri"/>
                <a:cs typeface="Calibri"/>
                <a:sym typeface="Calibri"/>
              </a:rPr>
              <a:t>Region-based CNN (R-CNN) was explored for bounding box localization, aiming to improve the detection and localization of pneumonia regions within the images.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Mask R-CNN: </a:t>
            </a:r>
            <a:r>
              <a:rPr lang="en-US" sz="1200" b="0" i="0" u="none" strike="noStrike" cap="none">
                <a:solidFill>
                  <a:schemeClr val="dk1"/>
                </a:solidFill>
                <a:latin typeface="Calibri"/>
                <a:ea typeface="Calibri"/>
                <a:cs typeface="Calibri"/>
                <a:sym typeface="Calibri"/>
              </a:rPr>
              <a:t>Mask R-CNN extends the Faster R-CNN model by adding a mask head, which predicts segmentation masks for each object (in this case, pneumonia-infected regions) in addition to the bounding boxes. It uses ResNet50 with Feature Pyramid Networks (FPN) as the backbone to extract features at different scales.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Optimization</a:t>
            </a:r>
            <a:r>
              <a:rPr lang="en-US" sz="1200" b="0" i="0" u="none" strike="noStrike" cap="none">
                <a:solidFill>
                  <a:schemeClr val="dk1"/>
                </a:solidFill>
                <a:latin typeface="Calibri"/>
                <a:ea typeface="Calibri"/>
                <a:cs typeface="Calibri"/>
                <a:sym typeface="Calibri"/>
              </a:rPr>
              <a:t>: Early stopping, learning rate reduction, L2 regularization, and class weighting were applied to improve model performance .</a:t>
            </a:r>
            <a:endParaRPr/>
          </a:p>
          <a:p>
            <a:pPr marL="285750" marR="0" lvl="0" indent="-1968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2. Combining Techniques To optimize model performance:</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Regularization and Fine-Tuning: </a:t>
            </a:r>
            <a:r>
              <a:rPr lang="en-US" sz="1200" b="0" i="0" u="none" strike="noStrike" cap="none">
                <a:solidFill>
                  <a:schemeClr val="dk1"/>
                </a:solidFill>
                <a:latin typeface="Calibri"/>
                <a:ea typeface="Calibri"/>
                <a:cs typeface="Calibri"/>
                <a:sym typeface="Calibri"/>
              </a:rPr>
              <a:t>L2 regularization helped prevent overfitting, while fine-tuning allowed the pre-trained ResNet50 and DenseNet models to adapt to pneumonia detection.</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Data Augmentation: </a:t>
            </a:r>
            <a:r>
              <a:rPr lang="en-US" sz="1200" b="0" i="0" u="none" strike="noStrike" cap="none">
                <a:solidFill>
                  <a:schemeClr val="dk1"/>
                </a:solidFill>
                <a:latin typeface="Calibri"/>
                <a:ea typeface="Calibri"/>
                <a:cs typeface="Calibri"/>
                <a:sym typeface="Calibri"/>
              </a:rPr>
              <a:t>Data augmentation increased variability in training samples, improving generalization and reducing bias towards normal images.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Class Weights: </a:t>
            </a:r>
            <a:r>
              <a:rPr lang="en-US" sz="1200" b="0" i="0" u="none" strike="noStrike" cap="none">
                <a:solidFill>
                  <a:schemeClr val="dk1"/>
                </a:solidFill>
                <a:latin typeface="Calibri"/>
                <a:ea typeface="Calibri"/>
                <a:cs typeface="Calibri"/>
                <a:sym typeface="Calibri"/>
              </a:rPr>
              <a:t>By adjusting the class weights during training, the models were better able to learn from the underrepresented pneumonia class.</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This combination of techniques resulted in the best-performing models, particularly the fine-tuned ResNet50, which achieved an accuracy of 75.95%, with significant improvements in recall and precision.</a:t>
            </a:r>
            <a:endParaRPr/>
          </a:p>
          <a:p>
            <a:pPr marL="285750" marR="0" lvl="0" indent="-1968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285750" marR="0" lvl="0" indent="-1968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285750" marR="0" lvl="0" indent="-1968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30"/>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Step-by-step Walkthrough of the Solution</a:t>
            </a:r>
            <a:endParaRPr sz="2800" b="0" i="0" u="none" strike="noStrike" cap="none">
              <a:solidFill>
                <a:srgbClr val="3F3F3F"/>
              </a:solidFill>
              <a:latin typeface="Calibri"/>
              <a:ea typeface="Calibri"/>
              <a:cs typeface="Calibri"/>
              <a:sym typeface="Calibri"/>
            </a:endParaRPr>
          </a:p>
        </p:txBody>
      </p:sp>
      <p:sp>
        <p:nvSpPr>
          <p:cNvPr id="128" name="Google Shape;128;p30"/>
          <p:cNvSpPr txBox="1"/>
          <p:nvPr/>
        </p:nvSpPr>
        <p:spPr>
          <a:xfrm>
            <a:off x="699246" y="931933"/>
            <a:ext cx="11116233" cy="52629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The following steps describe the approach taken to solve the Pneumonia Detection Challenge. At each stage, challenges were encountered, informing the next steps, ultimately leading to the development of the best-performing model.</a:t>
            </a:r>
            <a:endParaRPr/>
          </a:p>
          <a:p>
            <a:pPr marL="285750" marR="0" lvl="0" indent="-1968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1. Data Loading and Exploration</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Objective</a:t>
            </a:r>
            <a:r>
              <a:rPr lang="en-US" sz="1200" b="0" i="0" u="none" strike="noStrike" cap="none">
                <a:solidFill>
                  <a:schemeClr val="dk1"/>
                </a:solidFill>
                <a:latin typeface="Calibri"/>
                <a:ea typeface="Calibri"/>
                <a:cs typeface="Calibri"/>
                <a:sym typeface="Calibri"/>
              </a:rPr>
              <a:t>: Understand the dataset by exploring class distribution and image characteristics.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Process</a:t>
            </a:r>
            <a:r>
              <a:rPr lang="en-US" sz="1200" b="0" i="0" u="none" strike="noStrike" cap="none">
                <a:solidFill>
                  <a:schemeClr val="dk1"/>
                </a:solidFill>
                <a:latin typeface="Calibri"/>
                <a:ea typeface="Calibri"/>
                <a:cs typeface="Calibri"/>
                <a:sym typeface="Calibri"/>
              </a:rPr>
              <a:t>: The dataset consisted of 26,684 X-ray images stored in DICOM format with associated metadata (patient ID, gender, age). We explored the class distribution and observed that 22.5% of the images were pneumonia-positive, creating a significant class imbalance.</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Key Finding</a:t>
            </a:r>
            <a:r>
              <a:rPr lang="en-US" sz="1200" b="0" i="0" u="none" strike="noStrike" cap="none">
                <a:solidFill>
                  <a:schemeClr val="dk1"/>
                </a:solidFill>
                <a:latin typeface="Calibri"/>
                <a:ea typeface="Calibri"/>
                <a:cs typeface="Calibri"/>
                <a:sym typeface="Calibri"/>
              </a:rPr>
              <a:t>: The imbalance between normal and pneumonia cases would require techniques like data augmentation and class weighting in subsequent steps​.</a:t>
            </a:r>
            <a:endParaRPr/>
          </a:p>
          <a:p>
            <a:pPr marL="285750" marR="0" lvl="0" indent="-1968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2. Initial Model (Base CNN)</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Objective</a:t>
            </a:r>
            <a:r>
              <a:rPr lang="en-US" sz="1200" b="0" i="0" u="none" strike="noStrike" cap="none">
                <a:solidFill>
                  <a:schemeClr val="dk1"/>
                </a:solidFill>
                <a:latin typeface="Calibri"/>
                <a:ea typeface="Calibri"/>
                <a:cs typeface="Calibri"/>
                <a:sym typeface="Calibri"/>
              </a:rPr>
              <a:t>: Establish a baseline for pneumonia classification using a simple CNN.</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Process</a:t>
            </a:r>
            <a:r>
              <a:rPr lang="en-US" sz="1200" b="0" i="0" u="none" strike="noStrike" cap="none">
                <a:solidFill>
                  <a:schemeClr val="dk1"/>
                </a:solidFill>
                <a:latin typeface="Calibri"/>
                <a:ea typeface="Calibri"/>
                <a:cs typeface="Calibri"/>
                <a:sym typeface="Calibri"/>
              </a:rPr>
              <a:t>: A CNN model was built with several convolutional layers followed by pooling and fully connected layers.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Performance</a:t>
            </a:r>
            <a:r>
              <a:rPr lang="en-US" sz="1200" b="0" i="0" u="none" strike="noStrike" cap="none">
                <a:solidFill>
                  <a:schemeClr val="dk1"/>
                </a:solidFill>
                <a:latin typeface="Calibri"/>
                <a:ea typeface="Calibri"/>
                <a:cs typeface="Calibri"/>
                <a:sym typeface="Calibri"/>
              </a:rPr>
              <a:t>: Achieved 62.81% accuracy. However, the model showed signs of overfitting (high accuracy on training data, low accuracy on validation data).</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Key</a:t>
            </a:r>
            <a:r>
              <a:rPr lang="en-US" sz="1200" b="0" i="0" u="none" strike="noStrike" cap="none">
                <a:solidFill>
                  <a:schemeClr val="dk1"/>
                </a:solidFill>
                <a:latin typeface="Calibri"/>
                <a:ea typeface="Calibri"/>
                <a:cs typeface="Calibri"/>
                <a:sym typeface="Calibri"/>
              </a:rPr>
              <a:t> </a:t>
            </a:r>
            <a:r>
              <a:rPr lang="en-US" sz="1200" b="1" i="0" u="none" strike="noStrike" cap="none">
                <a:solidFill>
                  <a:schemeClr val="dk1"/>
                </a:solidFill>
                <a:latin typeface="Calibri"/>
                <a:ea typeface="Calibri"/>
                <a:cs typeface="Calibri"/>
                <a:sym typeface="Calibri"/>
              </a:rPr>
              <a:t>Finding</a:t>
            </a:r>
            <a:r>
              <a:rPr lang="en-US" sz="1200" b="0" i="0" u="none" strike="noStrike" cap="none">
                <a:solidFill>
                  <a:schemeClr val="dk1"/>
                </a:solidFill>
                <a:latin typeface="Calibri"/>
                <a:ea typeface="Calibri"/>
                <a:cs typeface="Calibri"/>
                <a:sym typeface="Calibri"/>
              </a:rPr>
              <a:t>: The base model provided a starting point, but improvements were necessary to address overfitting and low recall for pneumonia cases .</a:t>
            </a:r>
            <a:endParaRPr/>
          </a:p>
          <a:p>
            <a:pPr marL="285750" marR="0" lvl="0" indent="-1968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3. Introducing L2 Regularization</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Objective: </a:t>
            </a:r>
            <a:r>
              <a:rPr lang="en-US" sz="1200" b="0" i="0" u="none" strike="noStrike" cap="none">
                <a:solidFill>
                  <a:schemeClr val="dk1"/>
                </a:solidFill>
                <a:latin typeface="Calibri"/>
                <a:ea typeface="Calibri"/>
                <a:cs typeface="Calibri"/>
                <a:sym typeface="Calibri"/>
              </a:rPr>
              <a:t>Reduce overfitting by penalizing large weights in the CNN model.</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Process: </a:t>
            </a:r>
            <a:r>
              <a:rPr lang="en-US" sz="1200" b="0" i="0" u="none" strike="noStrike" cap="none">
                <a:solidFill>
                  <a:schemeClr val="dk1"/>
                </a:solidFill>
                <a:latin typeface="Calibri"/>
                <a:ea typeface="Calibri"/>
                <a:cs typeface="Calibri"/>
                <a:sym typeface="Calibri"/>
              </a:rPr>
              <a:t>L2 regularization was added to the convolutional layers of the CNN to improve generalization.</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Performance: </a:t>
            </a:r>
            <a:r>
              <a:rPr lang="en-US" sz="1200" b="0" i="0" u="none" strike="noStrike" cap="none">
                <a:solidFill>
                  <a:schemeClr val="dk1"/>
                </a:solidFill>
                <a:latin typeface="Calibri"/>
                <a:ea typeface="Calibri"/>
                <a:cs typeface="Calibri"/>
                <a:sym typeface="Calibri"/>
              </a:rPr>
              <a:t>The model improved to 72.81% accuracy, with better precision and recall scores compared to the base model.</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Key Finding: </a:t>
            </a:r>
            <a:r>
              <a:rPr lang="en-US" sz="1200" b="0" i="0" u="none" strike="noStrike" cap="none">
                <a:solidFill>
                  <a:schemeClr val="dk1"/>
                </a:solidFill>
                <a:latin typeface="Calibri"/>
                <a:ea typeface="Calibri"/>
                <a:cs typeface="Calibri"/>
                <a:sym typeface="Calibri"/>
              </a:rPr>
              <a:t>L2 regularization helped reduce overfitting and improved model performance, but further improvements in recall were needed to better detect pneumonia cases .</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4. CNN with Data Augmentation</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Objective: </a:t>
            </a:r>
            <a:r>
              <a:rPr lang="en-US" sz="1200" b="0" i="0" u="none" strike="noStrike" cap="none">
                <a:solidFill>
                  <a:schemeClr val="dk1"/>
                </a:solidFill>
                <a:latin typeface="Calibri"/>
                <a:ea typeface="Calibri"/>
                <a:cs typeface="Calibri"/>
                <a:sym typeface="Calibri"/>
              </a:rPr>
              <a:t>Address class imbalance and improve model robustness using data augmentation techniques.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Process: </a:t>
            </a:r>
            <a:r>
              <a:rPr lang="en-US" sz="1200" b="0" i="0" u="none" strike="noStrike" cap="none">
                <a:solidFill>
                  <a:schemeClr val="dk1"/>
                </a:solidFill>
                <a:latin typeface="Calibri"/>
                <a:ea typeface="Calibri"/>
                <a:cs typeface="Calibri"/>
                <a:sym typeface="Calibri"/>
              </a:rPr>
              <a:t>Techniques such as random rotation, horizontal flipping, zoom, and brightness adjustments were applied during training.</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Performance: </a:t>
            </a:r>
            <a:r>
              <a:rPr lang="en-US" sz="1200" b="0" i="0" u="none" strike="noStrike" cap="none">
                <a:solidFill>
                  <a:schemeClr val="dk1"/>
                </a:solidFill>
                <a:latin typeface="Calibri"/>
                <a:ea typeface="Calibri"/>
                <a:cs typeface="Calibri"/>
                <a:sym typeface="Calibri"/>
              </a:rPr>
              <a:t>The augmented CNN model achieved 71.75% accuracy. While performance improved, challenges remained with detecting pneumonia in minority cases.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Key Finding: </a:t>
            </a:r>
            <a:r>
              <a:rPr lang="en-US" sz="1200" b="0" i="0" u="none" strike="noStrike" cap="none">
                <a:solidFill>
                  <a:schemeClr val="dk1"/>
                </a:solidFill>
                <a:latin typeface="Calibri"/>
                <a:ea typeface="Calibri"/>
                <a:cs typeface="Calibri"/>
                <a:sym typeface="Calibri"/>
              </a:rPr>
              <a:t>Data augmentation helped the model generalize better, particularly when faced with variations in input images.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31"/>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Step-by-step Walkthrough of the Solution</a:t>
            </a:r>
            <a:endParaRPr sz="2800" b="0" i="0" u="none" strike="noStrike" cap="none">
              <a:solidFill>
                <a:srgbClr val="3F3F3F"/>
              </a:solidFill>
              <a:latin typeface="Calibri"/>
              <a:ea typeface="Calibri"/>
              <a:cs typeface="Calibri"/>
              <a:sym typeface="Calibri"/>
            </a:endParaRPr>
          </a:p>
        </p:txBody>
      </p:sp>
      <p:sp>
        <p:nvSpPr>
          <p:cNvPr id="134" name="Google Shape;134;p31"/>
          <p:cNvSpPr txBox="1"/>
          <p:nvPr/>
        </p:nvSpPr>
        <p:spPr>
          <a:xfrm>
            <a:off x="699246" y="931933"/>
            <a:ext cx="11116233" cy="61862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5. Transfer Learning with Pre-trained ResNet50</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Objective: </a:t>
            </a:r>
            <a:r>
              <a:rPr lang="en-US" sz="1200" b="0" i="0" u="none" strike="noStrike" cap="none">
                <a:solidFill>
                  <a:schemeClr val="dk1"/>
                </a:solidFill>
                <a:latin typeface="Calibri"/>
                <a:ea typeface="Calibri"/>
                <a:cs typeface="Calibri"/>
                <a:sym typeface="Calibri"/>
              </a:rPr>
              <a:t>Leverage pre-trained models to improve performance on pneumonia classification.</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Process: </a:t>
            </a:r>
            <a:r>
              <a:rPr lang="en-US" sz="1200" b="0" i="0" u="none" strike="noStrike" cap="none">
                <a:solidFill>
                  <a:schemeClr val="dk1"/>
                </a:solidFill>
                <a:latin typeface="Calibri"/>
                <a:ea typeface="Calibri"/>
                <a:cs typeface="Calibri"/>
                <a:sym typeface="Calibri"/>
              </a:rPr>
              <a:t>A ResNet50 model, pre-trained on ImageNet, was fine-tuned on the pneumonia dataset.</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Performance: </a:t>
            </a:r>
            <a:r>
              <a:rPr lang="en-US" sz="1200" b="0" i="0" u="none" strike="noStrike" cap="none">
                <a:solidFill>
                  <a:schemeClr val="dk1"/>
                </a:solidFill>
                <a:latin typeface="Calibri"/>
                <a:ea typeface="Calibri"/>
                <a:cs typeface="Calibri"/>
                <a:sym typeface="Calibri"/>
              </a:rPr>
              <a:t>Initial ResNet50 achieved 75.95% accuracy, showing considerable improvements over the CNN models.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Key Finding: </a:t>
            </a:r>
            <a:r>
              <a:rPr lang="en-US" sz="1200" b="0" i="0" u="none" strike="noStrike" cap="none">
                <a:solidFill>
                  <a:schemeClr val="dk1"/>
                </a:solidFill>
                <a:latin typeface="Calibri"/>
                <a:ea typeface="Calibri"/>
                <a:cs typeface="Calibri"/>
                <a:sym typeface="Calibri"/>
              </a:rPr>
              <a:t>Transfer learning allowed the model to quickly learn pneumonia-specific features from the X-ray images, significantly improving performance .</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6. Fine-Tuning ResNet50</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Objective: </a:t>
            </a:r>
            <a:r>
              <a:rPr lang="en-US" sz="1200" b="0" i="0" u="none" strike="noStrike" cap="none">
                <a:solidFill>
                  <a:schemeClr val="dk1"/>
                </a:solidFill>
                <a:latin typeface="Calibri"/>
                <a:ea typeface="Calibri"/>
                <a:cs typeface="Calibri"/>
                <a:sym typeface="Calibri"/>
              </a:rPr>
              <a:t>Further improve model performance by fine-tuning specific layers of ResNet50.</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Process: </a:t>
            </a:r>
            <a:r>
              <a:rPr lang="en-US" sz="1200" b="0" i="0" u="none" strike="noStrike" cap="none">
                <a:solidFill>
                  <a:schemeClr val="dk1"/>
                </a:solidFill>
                <a:latin typeface="Calibri"/>
                <a:ea typeface="Calibri"/>
                <a:cs typeface="Calibri"/>
                <a:sym typeface="Calibri"/>
              </a:rPr>
              <a:t>The final 20 layers of ResNet50 were unfrozen and retrained with a lower learning rate to capture domain-specific features.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Performance:</a:t>
            </a:r>
            <a:r>
              <a:rPr lang="en-US" sz="1200" b="0" i="0" u="none" strike="noStrike" cap="none">
                <a:solidFill>
                  <a:schemeClr val="dk1"/>
                </a:solidFill>
                <a:latin typeface="Calibri"/>
                <a:ea typeface="Calibri"/>
                <a:cs typeface="Calibri"/>
                <a:sym typeface="Calibri"/>
              </a:rPr>
              <a:t> Fine-tuned ResNet50 achieved 78.39% accuracy, with significant improvements in recall and precision.</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Key Finding: </a:t>
            </a:r>
            <a:r>
              <a:rPr lang="en-US" sz="1200" b="0" i="0" u="none" strike="noStrike" cap="none">
                <a:solidFill>
                  <a:schemeClr val="dk1"/>
                </a:solidFill>
                <a:latin typeface="Calibri"/>
                <a:ea typeface="Calibri"/>
                <a:cs typeface="Calibri"/>
                <a:sym typeface="Calibri"/>
              </a:rPr>
              <a:t>Fine-tuning provided better feature extraction from the X-ray images, leading to a higher detection rate for pneumonia.</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7. DenseNet &amp; Fine-Tuning DenseNet</a:t>
            </a:r>
            <a:endParaRPr sz="1200" b="1"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Objective: </a:t>
            </a:r>
            <a:r>
              <a:rPr lang="en-US" sz="1200" b="0" i="0" u="none" strike="noStrike" cap="none">
                <a:solidFill>
                  <a:schemeClr val="dk1"/>
                </a:solidFill>
                <a:latin typeface="Calibri"/>
                <a:ea typeface="Calibri"/>
                <a:cs typeface="Calibri"/>
                <a:sym typeface="Calibri"/>
              </a:rPr>
              <a:t>The primary objective of using DenseNet and its fine-tuned version was to improve pneumonia detection by leveraging DenseNet's ability to create dense connections between layers.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Process: </a:t>
            </a:r>
            <a:r>
              <a:rPr lang="en-US" sz="1200" b="0" i="0" u="none" strike="noStrike" cap="none">
                <a:solidFill>
                  <a:schemeClr val="dk1"/>
                </a:solidFill>
                <a:latin typeface="Calibri"/>
                <a:ea typeface="Calibri"/>
                <a:cs typeface="Calibri"/>
                <a:sym typeface="Calibri"/>
              </a:rPr>
              <a:t>A pre-trained DenseNet model, trained on ImageNet, was used as a base model. It was adapted for binary classification (normal vs. pneumonia) by replacing the final fully connected layers with a binary classifier.</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Performance: </a:t>
            </a:r>
            <a:r>
              <a:rPr lang="en-US" sz="1200" b="0" i="0" u="none" strike="noStrike" cap="none">
                <a:solidFill>
                  <a:schemeClr val="dk1"/>
                </a:solidFill>
                <a:latin typeface="Calibri"/>
                <a:ea typeface="Calibri"/>
                <a:cs typeface="Calibri"/>
                <a:sym typeface="Calibri"/>
              </a:rPr>
              <a:t>Both DenseNet and Fine-Tuned DenseNet models achieved an accuracy of 73.44%. F1 Score is 0.5812 for both models, representing a balance between precision and recall, but with a focus on high recall, which is crucial in medical diagnosis to avoid missing pneumonia cases.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Key Finding: </a:t>
            </a:r>
            <a:r>
              <a:rPr lang="en-US" sz="1200" b="0" i="0" u="none" strike="noStrike" cap="none">
                <a:solidFill>
                  <a:schemeClr val="dk1"/>
                </a:solidFill>
                <a:latin typeface="Calibri"/>
                <a:ea typeface="Calibri"/>
                <a:cs typeface="Calibri"/>
                <a:sym typeface="Calibri"/>
              </a:rPr>
              <a:t>DenseNet and Fine-Tuned DenseNet models performed exceptionally well in terms of recall, making them highly effective at identifying pneumonia cases. This is particularly important in medical applications where it is critical to minimize missed diagnoses.</a:t>
            </a:r>
            <a:endParaRPr/>
          </a:p>
          <a:p>
            <a:pPr marL="285750" marR="0" lvl="0" indent="-1968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8. Exploring R-CNN for Localization</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Objective: </a:t>
            </a:r>
            <a:r>
              <a:rPr lang="en-US" sz="1200" b="0" i="0" u="none" strike="noStrike" cap="none">
                <a:solidFill>
                  <a:schemeClr val="dk1"/>
                </a:solidFill>
                <a:latin typeface="Calibri"/>
                <a:ea typeface="Calibri"/>
                <a:cs typeface="Calibri"/>
                <a:sym typeface="Calibri"/>
              </a:rPr>
              <a:t>Improve not only classification but also localization of pneumonia within the X-ray images.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Process: </a:t>
            </a:r>
            <a:r>
              <a:rPr lang="en-US" sz="1200" b="0" i="0" u="none" strike="noStrike" cap="none">
                <a:solidFill>
                  <a:schemeClr val="dk1"/>
                </a:solidFill>
                <a:latin typeface="Calibri"/>
                <a:ea typeface="Calibri"/>
                <a:cs typeface="Calibri"/>
                <a:sym typeface="Calibri"/>
              </a:rPr>
              <a:t>An R-CNN model was explored for identifying bounding boxes around pneumonia-infected areas in addition to classifying images.</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Performance: </a:t>
            </a:r>
            <a:r>
              <a:rPr lang="en-US" sz="1200" b="0" i="0" u="none" strike="noStrike" cap="none">
                <a:solidFill>
                  <a:schemeClr val="dk1"/>
                </a:solidFill>
                <a:latin typeface="Calibri"/>
                <a:ea typeface="Calibri"/>
                <a:cs typeface="Calibri"/>
                <a:sym typeface="Calibri"/>
              </a:rPr>
              <a:t>The model showed potential for combining classification and localization, though further tuning was required to optimize results .</a:t>
            </a:r>
            <a:endParaRPr/>
          </a:p>
          <a:p>
            <a:pPr marL="285750" marR="0" lvl="0" indent="-2857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Key Finding: </a:t>
            </a:r>
            <a:r>
              <a:rPr lang="en-US" sz="1200" b="0" i="0" u="none" strike="noStrike" cap="none">
                <a:solidFill>
                  <a:schemeClr val="dk1"/>
                </a:solidFill>
                <a:latin typeface="Calibri"/>
                <a:ea typeface="Calibri"/>
                <a:cs typeface="Calibri"/>
                <a:sym typeface="Calibri"/>
              </a:rPr>
              <a:t>Incorporating object detection (localization of pneumonia) could enhance the clinical usability of the model, potentially aiding radiologists in pinpointing areas of concern.</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This step-by-step approach demonstrates how challenges at each stage (e.g., overfitting, class imbalance) informed the use of advanced techniques like data augmentation, L2 regularization, and transfer learning to improve model performance. Ultimately, the fine-tuned ResNet50 model provided the best solution for the pneumonia detection challenge.</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2"/>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Model Evaluation</a:t>
            </a:r>
            <a:endParaRPr/>
          </a:p>
        </p:txBody>
      </p:sp>
      <p:sp>
        <p:nvSpPr>
          <p:cNvPr id="140" name="Google Shape;140;p32"/>
          <p:cNvSpPr txBox="1"/>
          <p:nvPr/>
        </p:nvSpPr>
        <p:spPr>
          <a:xfrm>
            <a:off x="493058" y="3689064"/>
            <a:ext cx="11143129"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Key Insights:</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Base Model: </a:t>
            </a:r>
            <a:r>
              <a:rPr lang="en-US" sz="1200" b="0" i="0" u="none" strike="noStrike" cap="none">
                <a:solidFill>
                  <a:schemeClr val="dk1"/>
                </a:solidFill>
                <a:latin typeface="Calibri"/>
                <a:ea typeface="Calibri"/>
                <a:cs typeface="Calibri"/>
                <a:sym typeface="Calibri"/>
              </a:rPr>
              <a:t>Achieved a baseline accuracy of 62.81%, with moderate recall but lower precision.</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L2 Regularization</a:t>
            </a:r>
            <a:r>
              <a:rPr lang="en-US" sz="1200" b="0" i="0" u="none" strike="noStrike" cap="none">
                <a:solidFill>
                  <a:schemeClr val="dk1"/>
                </a:solidFill>
                <a:latin typeface="Calibri"/>
                <a:ea typeface="Calibri"/>
                <a:cs typeface="Calibri"/>
                <a:sym typeface="Calibri"/>
              </a:rPr>
              <a:t>: Improved performance significantly with better precision, recall, and F1 score.</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Data Augmentation</a:t>
            </a:r>
            <a:r>
              <a:rPr lang="en-US" sz="1200" b="0" i="0" u="none" strike="noStrike" cap="none">
                <a:solidFill>
                  <a:schemeClr val="dk1"/>
                </a:solidFill>
                <a:latin typeface="Calibri"/>
                <a:ea typeface="Calibri"/>
                <a:cs typeface="Calibri"/>
                <a:sym typeface="Calibri"/>
              </a:rPr>
              <a:t>: Improved generalization, though the model still struggled with recall.</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Transfer Learning</a:t>
            </a:r>
            <a:r>
              <a:rPr lang="en-US" sz="1200" b="0" i="0" u="none" strike="noStrike" cap="none">
                <a:solidFill>
                  <a:schemeClr val="dk1"/>
                </a:solidFill>
                <a:latin typeface="Calibri"/>
                <a:ea typeface="Calibri"/>
                <a:cs typeface="Calibri"/>
                <a:sym typeface="Calibri"/>
              </a:rPr>
              <a:t>: Showed improved accuracy and recall, indicating that transfer learning helped capture more meaningful features.</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ResNet50</a:t>
            </a:r>
            <a:r>
              <a:rPr lang="en-US" sz="1200" b="0" i="0" u="none" strike="noStrike" cap="none">
                <a:solidFill>
                  <a:schemeClr val="dk1"/>
                </a:solidFill>
                <a:latin typeface="Calibri"/>
                <a:ea typeface="Calibri"/>
                <a:cs typeface="Calibri"/>
                <a:sym typeface="Calibri"/>
              </a:rPr>
              <a:t>: Outperformed the baseline models, achieving higher accuracy and recall, though with room for improvement in precision.</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Fine-Tuned ResNet50</a:t>
            </a:r>
            <a:r>
              <a:rPr lang="en-US" sz="1200" b="0" i="0" u="none" strike="noStrike" cap="none">
                <a:solidFill>
                  <a:schemeClr val="dk1"/>
                </a:solidFill>
                <a:latin typeface="Calibri"/>
                <a:ea typeface="Calibri"/>
                <a:cs typeface="Calibri"/>
                <a:sym typeface="Calibri"/>
              </a:rPr>
              <a:t>: Further fine-tuning of ResNet50 improved both precision and F1 score.</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DenseNet and Fine-Tuned DenseNet</a:t>
            </a:r>
            <a:r>
              <a:rPr lang="en-US" sz="1200" b="0" i="0" u="none" strike="noStrike" cap="none">
                <a:solidFill>
                  <a:schemeClr val="dk1"/>
                </a:solidFill>
                <a:latin typeface="Calibri"/>
                <a:ea typeface="Calibri"/>
                <a:cs typeface="Calibri"/>
                <a:sym typeface="Calibri"/>
              </a:rPr>
              <a:t>: DenseNet showed higher recall, but slightly lower precision, making it suitable for detecting more pneumonia cases but at the risk of false positives.</a:t>
            </a:r>
            <a:endParaRPr/>
          </a:p>
          <a:p>
            <a:pPr marL="171450" marR="0" lvl="0" indent="-171450" algn="l" rtl="0">
              <a:lnSpc>
                <a:spcPct val="100000"/>
              </a:lnSpc>
              <a:spcBef>
                <a:spcPts val="0"/>
              </a:spcBef>
              <a:spcAft>
                <a:spcPts val="0"/>
              </a:spcAft>
              <a:buClr>
                <a:srgbClr val="000000"/>
              </a:buClr>
              <a:buSzPts val="1200"/>
              <a:buFont typeface="Arial"/>
              <a:buChar char="•"/>
            </a:pPr>
            <a:r>
              <a:rPr lang="en-US" sz="1200" b="1" i="0" u="none" strike="noStrike" cap="none">
                <a:solidFill>
                  <a:schemeClr val="dk1"/>
                </a:solidFill>
                <a:latin typeface="Calibri"/>
                <a:ea typeface="Calibri"/>
                <a:cs typeface="Calibri"/>
                <a:sym typeface="Calibri"/>
              </a:rPr>
              <a:t>R-CNN Model</a:t>
            </a:r>
            <a:r>
              <a:rPr lang="en-US" sz="1200" b="0" i="0" u="none" strike="noStrike" cap="none">
                <a:solidFill>
                  <a:schemeClr val="dk1"/>
                </a:solidFill>
                <a:latin typeface="Calibri"/>
                <a:ea typeface="Calibri"/>
                <a:cs typeface="Calibri"/>
                <a:sym typeface="Calibri"/>
              </a:rPr>
              <a:t>: Achieved a good balance of recall and precision, making it promising for pneumonia localization tasks as well as classification.</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Above table provides a comprehensive view of how each model evolved and improved in performance during the challenge.</a:t>
            </a:r>
            <a:endParaRPr/>
          </a:p>
        </p:txBody>
      </p:sp>
      <p:pic>
        <p:nvPicPr>
          <p:cNvPr id="141" name="Google Shape;141;p32"/>
          <p:cNvPicPr preferRelativeResize="0"/>
          <p:nvPr/>
        </p:nvPicPr>
        <p:blipFill rotWithShape="1">
          <a:blip r:embed="rId3">
            <a:alphaModFix/>
          </a:blip>
          <a:srcRect/>
          <a:stretch/>
        </p:blipFill>
        <p:spPr>
          <a:xfrm>
            <a:off x="2125247" y="393965"/>
            <a:ext cx="7278116" cy="32950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33"/>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Model Evaluation</a:t>
            </a:r>
            <a:endParaRPr sz="2800" b="0" i="0" u="none" strike="noStrike" cap="none">
              <a:solidFill>
                <a:srgbClr val="3F3F3F"/>
              </a:solidFill>
              <a:latin typeface="Calibri"/>
              <a:ea typeface="Calibri"/>
              <a:cs typeface="Calibri"/>
              <a:sym typeface="Calibri"/>
            </a:endParaRPr>
          </a:p>
        </p:txBody>
      </p:sp>
      <p:sp>
        <p:nvSpPr>
          <p:cNvPr id="147" name="Google Shape;147;p33"/>
          <p:cNvSpPr txBox="1"/>
          <p:nvPr/>
        </p:nvSpPr>
        <p:spPr>
          <a:xfrm>
            <a:off x="699246" y="931933"/>
            <a:ext cx="11116233" cy="54476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1. Final Model: Fine-Tuned ResNet50</a:t>
            </a:r>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The final model in this project was a Fine-Tuned ResNet50 using transfer learning. ResNet50 was chosen due to its effectiveness in handling deep neural network training by avoiding vanishing gradients, thanks to its skip connections.</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2. Objective: </a:t>
            </a:r>
            <a:r>
              <a:rPr lang="en-US" sz="1200" b="0" i="0" u="none" strike="noStrike" cap="none">
                <a:solidFill>
                  <a:schemeClr val="dk1"/>
                </a:solidFill>
                <a:latin typeface="Calibri"/>
                <a:ea typeface="Calibri"/>
                <a:cs typeface="Calibri"/>
                <a:sym typeface="Calibri"/>
              </a:rPr>
              <a:t>The goal was to create a highly accurate model that can identify pneumonia from chest X-ray images. This required the model to:</a:t>
            </a:r>
            <a:endParaRPr/>
          </a:p>
          <a:p>
            <a:pPr marL="171450" marR="0" lvl="0" indent="-171450" algn="l" rtl="0">
              <a:lnSpc>
                <a:spcPct val="100000"/>
              </a:lnSpc>
              <a:spcBef>
                <a:spcPts val="0"/>
              </a:spcBef>
              <a:spcAft>
                <a:spcPts val="0"/>
              </a:spcAft>
              <a:buClr>
                <a:schemeClr val="dk1"/>
              </a:buClr>
              <a:buSzPts val="1400"/>
              <a:buFont typeface="Arial"/>
              <a:buChar char="•"/>
            </a:pPr>
            <a:r>
              <a:rPr lang="en-US" sz="1200" b="0" i="0" u="none" strike="noStrike" cap="none">
                <a:solidFill>
                  <a:schemeClr val="dk1"/>
                </a:solidFill>
                <a:latin typeface="Calibri"/>
                <a:ea typeface="Calibri"/>
                <a:cs typeface="Calibri"/>
                <a:sym typeface="Calibri"/>
              </a:rPr>
              <a:t>Accurately classify X-rays as either normal or pneumonia-positive.</a:t>
            </a:r>
            <a:endParaRPr/>
          </a:p>
          <a:p>
            <a:pPr marL="171450" marR="0" lvl="0" indent="-171450" algn="l" rtl="0">
              <a:lnSpc>
                <a:spcPct val="100000"/>
              </a:lnSpc>
              <a:spcBef>
                <a:spcPts val="0"/>
              </a:spcBef>
              <a:spcAft>
                <a:spcPts val="0"/>
              </a:spcAft>
              <a:buClr>
                <a:schemeClr val="dk1"/>
              </a:buClr>
              <a:buSzPts val="1400"/>
              <a:buFont typeface="Arial"/>
              <a:buChar char="•"/>
            </a:pPr>
            <a:r>
              <a:rPr lang="en-US" sz="1200" b="0" i="0" u="none" strike="noStrike" cap="none">
                <a:solidFill>
                  <a:schemeClr val="dk1"/>
                </a:solidFill>
                <a:latin typeface="Calibri"/>
                <a:ea typeface="Calibri"/>
                <a:cs typeface="Calibri"/>
                <a:sym typeface="Calibri"/>
              </a:rPr>
              <a:t>Minimize false negatives (where pneumonia is missed) and improve recall.</a:t>
            </a:r>
            <a:endParaRPr/>
          </a:p>
          <a:p>
            <a:pPr marL="171450" marR="0" lvl="0" indent="-171450" algn="l" rtl="0">
              <a:lnSpc>
                <a:spcPct val="100000"/>
              </a:lnSpc>
              <a:spcBef>
                <a:spcPts val="0"/>
              </a:spcBef>
              <a:spcAft>
                <a:spcPts val="0"/>
              </a:spcAft>
              <a:buClr>
                <a:schemeClr val="dk1"/>
              </a:buClr>
              <a:buSzPts val="1400"/>
              <a:buFont typeface="Arial"/>
              <a:buChar char="•"/>
            </a:pPr>
            <a:r>
              <a:rPr lang="en-US" sz="1200" b="0" i="0" u="none" strike="noStrike" cap="none">
                <a:solidFill>
                  <a:schemeClr val="dk1"/>
                </a:solidFill>
                <a:latin typeface="Calibri"/>
                <a:ea typeface="Calibri"/>
                <a:cs typeface="Calibri"/>
                <a:sym typeface="Calibri"/>
              </a:rPr>
              <a:t>Balance precision and recall, given the imbalanced nature of the dataset.</a:t>
            </a:r>
            <a:endParaRPr/>
          </a:p>
          <a:p>
            <a:pPr marL="171450" marR="0" lvl="0" indent="-825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3. Prominent Parameters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Learning Rate: </a:t>
            </a:r>
            <a:r>
              <a:rPr lang="en-US" sz="1200" b="0" i="0" u="none" strike="noStrike" cap="none">
                <a:solidFill>
                  <a:schemeClr val="dk1"/>
                </a:solidFill>
                <a:latin typeface="Calibri"/>
                <a:ea typeface="Calibri"/>
                <a:cs typeface="Calibri"/>
                <a:sym typeface="Calibri"/>
              </a:rPr>
              <a:t>A small learning rate (1e-5) was used during fine-tuning to ensure the model learned from the pneumonia dataset without drastically changing the pre-trained weights.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Batch Size: </a:t>
            </a:r>
            <a:r>
              <a:rPr lang="en-US" sz="1200" b="0" i="0" u="none" strike="noStrike" cap="none">
                <a:solidFill>
                  <a:schemeClr val="dk1"/>
                </a:solidFill>
                <a:latin typeface="Calibri"/>
                <a:ea typeface="Calibri"/>
                <a:cs typeface="Calibri"/>
                <a:sym typeface="Calibri"/>
              </a:rPr>
              <a:t>32, which balanced training speed and stability.</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L2 Regularization</a:t>
            </a:r>
            <a:r>
              <a:rPr lang="en-US" sz="1200" b="0" i="0" u="none" strike="noStrike" cap="none">
                <a:solidFill>
                  <a:schemeClr val="dk1"/>
                </a:solidFill>
                <a:latin typeface="Calibri"/>
                <a:ea typeface="Calibri"/>
                <a:cs typeface="Calibri"/>
                <a:sym typeface="Calibri"/>
              </a:rPr>
              <a:t>: Added to convolutional layers to prevent overfitting.</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Early Stopping and ReduceLROnPlateau</a:t>
            </a:r>
            <a:r>
              <a:rPr lang="en-US" sz="1200" b="0" i="0" u="none" strike="noStrike" cap="none">
                <a:solidFill>
                  <a:schemeClr val="dk1"/>
                </a:solidFill>
                <a:latin typeface="Calibri"/>
                <a:ea typeface="Calibri"/>
                <a:cs typeface="Calibri"/>
                <a:sym typeface="Calibri"/>
              </a:rPr>
              <a:t>: These callbacks were applied to stop training when performance stopped improving and to reduce the learning rate dynamically if progress plateaued.</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4. Evaluation Metrics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Accuracy</a:t>
            </a:r>
            <a:r>
              <a:rPr lang="en-US" sz="1200" b="0" i="0" u="none" strike="noStrike" cap="none">
                <a:solidFill>
                  <a:schemeClr val="dk1"/>
                </a:solidFill>
                <a:latin typeface="Calibri"/>
                <a:ea typeface="Calibri"/>
                <a:cs typeface="Calibri"/>
                <a:sym typeface="Calibri"/>
              </a:rPr>
              <a:t>: The model achieved an accuracy of 75.95% on the validation set, showing good overall performance.</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Precision</a:t>
            </a:r>
            <a:r>
              <a:rPr lang="en-US" sz="1200" b="0" i="0" u="none" strike="noStrike" cap="none">
                <a:solidFill>
                  <a:schemeClr val="dk1"/>
                </a:solidFill>
                <a:latin typeface="Calibri"/>
                <a:ea typeface="Calibri"/>
                <a:cs typeface="Calibri"/>
                <a:sym typeface="Calibri"/>
              </a:rPr>
              <a:t>: 0.4689, meaning that around 46.89% of predicted pneumonia cases were true positives.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Recall</a:t>
            </a:r>
            <a:r>
              <a:rPr lang="en-US" sz="1200" b="0" i="0" u="none" strike="noStrike" cap="none">
                <a:solidFill>
                  <a:schemeClr val="dk1"/>
                </a:solidFill>
                <a:latin typeface="Calibri"/>
                <a:ea typeface="Calibri"/>
                <a:cs typeface="Calibri"/>
                <a:sym typeface="Calibri"/>
              </a:rPr>
              <a:t>: 0.5141, indicating that 51.41% of the actual pneumonia cases were correctly identified.</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F1</a:t>
            </a:r>
            <a:r>
              <a:rPr lang="en-US" sz="1200" b="0" i="0" u="none" strike="noStrike" cap="none">
                <a:solidFill>
                  <a:schemeClr val="dk1"/>
                </a:solidFill>
                <a:latin typeface="Calibri"/>
                <a:ea typeface="Calibri"/>
                <a:cs typeface="Calibri"/>
                <a:sym typeface="Calibri"/>
              </a:rPr>
              <a:t> </a:t>
            </a:r>
            <a:r>
              <a:rPr lang="en-US" sz="1200" b="1" i="0" u="none" strike="noStrike" cap="none">
                <a:solidFill>
                  <a:schemeClr val="dk1"/>
                </a:solidFill>
                <a:latin typeface="Calibri"/>
                <a:ea typeface="Calibri"/>
                <a:cs typeface="Calibri"/>
                <a:sym typeface="Calibri"/>
              </a:rPr>
              <a:t>Score</a:t>
            </a:r>
            <a:r>
              <a:rPr lang="en-US" sz="1200" b="0" i="0" u="none" strike="noStrike" cap="none">
                <a:solidFill>
                  <a:schemeClr val="dk1"/>
                </a:solidFill>
                <a:latin typeface="Calibri"/>
                <a:ea typeface="Calibri"/>
                <a:cs typeface="Calibri"/>
                <a:sym typeface="Calibri"/>
              </a:rPr>
              <a:t>: 0.4905, reflecting a balance between precision and recall.</a:t>
            </a:r>
            <a:endParaRPr/>
          </a:p>
          <a:p>
            <a:pPr marL="171450" marR="0" lvl="0" indent="-825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5. Success Evaluation</a:t>
            </a:r>
            <a:r>
              <a:rPr lang="en-US" sz="1200" b="0" i="0" u="none" strike="noStrike" cap="none">
                <a:solidFill>
                  <a:schemeClr val="dk1"/>
                </a:solidFill>
                <a:latin typeface="Calibri"/>
                <a:ea typeface="Calibri"/>
                <a:cs typeface="Calibri"/>
                <a:sym typeface="Calibri"/>
              </a:rPr>
              <a:t>: The success of the model was primarily evaluated using:</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Confusion Matrix: </a:t>
            </a:r>
            <a:r>
              <a:rPr lang="en-US" sz="1200" b="0" i="0" u="none" strike="noStrike" cap="none">
                <a:solidFill>
                  <a:schemeClr val="dk1"/>
                </a:solidFill>
                <a:latin typeface="Calibri"/>
                <a:ea typeface="Calibri"/>
                <a:cs typeface="Calibri"/>
                <a:sym typeface="Calibri"/>
              </a:rPr>
              <a:t>To analyze true positives, false positives, true negatives, and false negatives.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Accuracy and F1 Score</a:t>
            </a:r>
            <a:r>
              <a:rPr lang="en-US" sz="1200" b="0" i="0" u="none" strike="noStrike" cap="none">
                <a:solidFill>
                  <a:schemeClr val="dk1"/>
                </a:solidFill>
                <a:latin typeface="Calibri"/>
                <a:ea typeface="Calibri"/>
                <a:cs typeface="Calibri"/>
                <a:sym typeface="Calibri"/>
              </a:rPr>
              <a:t>: These were critical to understanding the trade-off between precision and recall.</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Validation Loss and Accuracy</a:t>
            </a:r>
            <a:r>
              <a:rPr lang="en-US" sz="1200" b="0" i="0" u="none" strike="noStrike" cap="none">
                <a:solidFill>
                  <a:schemeClr val="dk1"/>
                </a:solidFill>
                <a:latin typeface="Calibri"/>
                <a:ea typeface="Calibri"/>
                <a:cs typeface="Calibri"/>
                <a:sym typeface="Calibri"/>
              </a:rPr>
              <a:t>: These helped track the model's generalization ability, ensuring it wasn’t overfitting.</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Fine-tuning the ResNet50 model significantly improved performance over baseline models, particularly in terms of precision and recall.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34"/>
          <p:cNvSpPr txBox="1"/>
          <p:nvPr/>
        </p:nvSpPr>
        <p:spPr>
          <a:xfrm>
            <a:off x="0" y="-160901"/>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Comparison to Benchmark</a:t>
            </a:r>
            <a:endParaRPr sz="2800" b="0" i="0" u="none" strike="noStrike" cap="none">
              <a:solidFill>
                <a:srgbClr val="3F3F3F"/>
              </a:solidFill>
              <a:latin typeface="Calibri"/>
              <a:ea typeface="Calibri"/>
              <a:cs typeface="Calibri"/>
              <a:sym typeface="Calibri"/>
            </a:endParaRPr>
          </a:p>
        </p:txBody>
      </p:sp>
      <p:sp>
        <p:nvSpPr>
          <p:cNvPr id="153" name="Google Shape;153;p34"/>
          <p:cNvSpPr txBox="1"/>
          <p:nvPr/>
        </p:nvSpPr>
        <p:spPr>
          <a:xfrm>
            <a:off x="618566" y="456794"/>
            <a:ext cx="11196914" cy="60016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The initial benchmark model used was the Base CNN Model, which achieved:</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Accuracy</a:t>
            </a:r>
            <a:r>
              <a:rPr lang="en-US" sz="1200" b="0" i="0" u="none" strike="noStrike" cap="none">
                <a:solidFill>
                  <a:schemeClr val="dk1"/>
                </a:solidFill>
                <a:latin typeface="Calibri"/>
                <a:ea typeface="Calibri"/>
                <a:cs typeface="Calibri"/>
                <a:sym typeface="Calibri"/>
              </a:rPr>
              <a:t>: 62.81%</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Precision</a:t>
            </a:r>
            <a:r>
              <a:rPr lang="en-US" sz="1200" b="0" i="0" u="none" strike="noStrike" cap="none">
                <a:solidFill>
                  <a:schemeClr val="dk1"/>
                </a:solidFill>
                <a:latin typeface="Calibri"/>
                <a:ea typeface="Calibri"/>
                <a:cs typeface="Calibri"/>
                <a:sym typeface="Calibri"/>
              </a:rPr>
              <a:t>: 0.4417</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Recall</a:t>
            </a:r>
            <a:r>
              <a:rPr lang="en-US" sz="1200" b="0" i="0" u="none" strike="noStrike" cap="none">
                <a:solidFill>
                  <a:schemeClr val="dk1"/>
                </a:solidFill>
                <a:latin typeface="Calibri"/>
                <a:ea typeface="Calibri"/>
                <a:cs typeface="Calibri"/>
                <a:sym typeface="Calibri"/>
              </a:rPr>
              <a:t>: 0.5886</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F1</a:t>
            </a:r>
            <a:r>
              <a:rPr lang="en-US" sz="1200" b="0" i="0" u="none" strike="noStrike" cap="none">
                <a:solidFill>
                  <a:schemeClr val="dk1"/>
                </a:solidFill>
                <a:latin typeface="Calibri"/>
                <a:ea typeface="Calibri"/>
                <a:cs typeface="Calibri"/>
                <a:sym typeface="Calibri"/>
              </a:rPr>
              <a:t> </a:t>
            </a:r>
            <a:r>
              <a:rPr lang="en-US" sz="1200" b="1" i="0" u="none" strike="noStrike" cap="none">
                <a:solidFill>
                  <a:schemeClr val="dk1"/>
                </a:solidFill>
                <a:latin typeface="Calibri"/>
                <a:ea typeface="Calibri"/>
                <a:cs typeface="Calibri"/>
                <a:sym typeface="Calibri"/>
              </a:rPr>
              <a:t>Score</a:t>
            </a:r>
            <a:r>
              <a:rPr lang="en-US" sz="1200" b="0" i="0" u="none" strike="noStrike" cap="none">
                <a:solidFill>
                  <a:schemeClr val="dk1"/>
                </a:solidFill>
                <a:latin typeface="Calibri"/>
                <a:ea typeface="Calibri"/>
                <a:cs typeface="Calibri"/>
                <a:sym typeface="Calibri"/>
              </a:rPr>
              <a:t>: 0.5047</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This basic CNN served as the foundation for subsequent model enhancements. Over the course of the project, various techniques like L2 regularization, data augmentation, and transfer learning were applied to improve upon this baseline.</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Final Model Performance</a:t>
            </a:r>
            <a:r>
              <a:rPr lang="en-US" sz="1200" b="0" i="0" u="none" strike="noStrike" cap="none">
                <a:solidFill>
                  <a:schemeClr val="dk1"/>
                </a:solidFill>
                <a:latin typeface="Calibri"/>
                <a:ea typeface="Calibri"/>
                <a:cs typeface="Calibri"/>
                <a:sym typeface="Calibri"/>
              </a:rPr>
              <a:t>: The best model would be the R-CNN Model, considering its strong balance between accuracy, recall, and F1 score. Specifically:</a:t>
            </a:r>
            <a:endParaRPr/>
          </a:p>
          <a:p>
            <a:pPr marL="171450" marR="0" lvl="0" indent="-171450" algn="l" rtl="0">
              <a:lnSpc>
                <a:spcPct val="100000"/>
              </a:lnSpc>
              <a:spcBef>
                <a:spcPts val="0"/>
              </a:spcBef>
              <a:spcAft>
                <a:spcPts val="0"/>
              </a:spcAft>
              <a:buClr>
                <a:schemeClr val="dk1"/>
              </a:buClr>
              <a:buSzPts val="1400"/>
              <a:buFont typeface="Arial"/>
              <a:buChar char="•"/>
            </a:pPr>
            <a:r>
              <a:rPr lang="en-US" sz="1200" b="0" i="0" u="none" strike="noStrike" cap="none">
                <a:solidFill>
                  <a:schemeClr val="dk1"/>
                </a:solidFill>
                <a:latin typeface="Calibri"/>
                <a:ea typeface="Calibri"/>
                <a:cs typeface="Calibri"/>
                <a:sym typeface="Calibri"/>
              </a:rPr>
              <a:t>Accuracy: 75.44%</a:t>
            </a:r>
            <a:endParaRPr/>
          </a:p>
          <a:p>
            <a:pPr marL="171450" marR="0" lvl="0" indent="-171450" algn="l" rtl="0">
              <a:lnSpc>
                <a:spcPct val="100000"/>
              </a:lnSpc>
              <a:spcBef>
                <a:spcPts val="0"/>
              </a:spcBef>
              <a:spcAft>
                <a:spcPts val="0"/>
              </a:spcAft>
              <a:buClr>
                <a:schemeClr val="dk1"/>
              </a:buClr>
              <a:buSzPts val="1400"/>
              <a:buFont typeface="Arial"/>
              <a:buChar char="•"/>
            </a:pPr>
            <a:r>
              <a:rPr lang="en-US" sz="1200" b="0" i="0" u="none" strike="noStrike" cap="none">
                <a:solidFill>
                  <a:schemeClr val="dk1"/>
                </a:solidFill>
                <a:latin typeface="Calibri"/>
                <a:ea typeface="Calibri"/>
                <a:cs typeface="Calibri"/>
                <a:sym typeface="Calibri"/>
              </a:rPr>
              <a:t>Precision: 47.05%</a:t>
            </a:r>
            <a:endParaRPr/>
          </a:p>
          <a:p>
            <a:pPr marL="171450" marR="0" lvl="0" indent="-171450" algn="l" rtl="0">
              <a:lnSpc>
                <a:spcPct val="100000"/>
              </a:lnSpc>
              <a:spcBef>
                <a:spcPts val="0"/>
              </a:spcBef>
              <a:spcAft>
                <a:spcPts val="0"/>
              </a:spcAft>
              <a:buClr>
                <a:schemeClr val="dk1"/>
              </a:buClr>
              <a:buSzPts val="1400"/>
              <a:buFont typeface="Arial"/>
              <a:buChar char="•"/>
            </a:pPr>
            <a:r>
              <a:rPr lang="en-US" sz="1200" b="0" i="0" u="none" strike="noStrike" cap="none">
                <a:solidFill>
                  <a:schemeClr val="dk1"/>
                </a:solidFill>
                <a:latin typeface="Calibri"/>
                <a:ea typeface="Calibri"/>
                <a:cs typeface="Calibri"/>
                <a:sym typeface="Calibri"/>
              </a:rPr>
              <a:t>Recall: 81.86%</a:t>
            </a:r>
            <a:endParaRPr/>
          </a:p>
          <a:p>
            <a:pPr marL="171450" marR="0" lvl="0" indent="-171450" algn="l" rtl="0">
              <a:lnSpc>
                <a:spcPct val="100000"/>
              </a:lnSpc>
              <a:spcBef>
                <a:spcPts val="0"/>
              </a:spcBef>
              <a:spcAft>
                <a:spcPts val="0"/>
              </a:spcAft>
              <a:buClr>
                <a:schemeClr val="dk1"/>
              </a:buClr>
              <a:buSzPts val="1400"/>
              <a:buFont typeface="Arial"/>
              <a:buChar char="•"/>
            </a:pPr>
            <a:r>
              <a:rPr lang="en-US" sz="1200" b="0" i="0" u="none" strike="noStrike" cap="none">
                <a:solidFill>
                  <a:schemeClr val="dk1"/>
                </a:solidFill>
                <a:latin typeface="Calibri"/>
                <a:ea typeface="Calibri"/>
                <a:cs typeface="Calibri"/>
                <a:sym typeface="Calibri"/>
              </a:rPr>
              <a:t>F1 Score: 60.12%</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Key Reasons: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0" i="0" u="none" strike="noStrike" cap="none">
                <a:solidFill>
                  <a:schemeClr val="dk1"/>
                </a:solidFill>
                <a:latin typeface="Calibri"/>
                <a:ea typeface="Calibri"/>
                <a:cs typeface="Calibri"/>
                <a:sym typeface="Calibri"/>
              </a:rPr>
              <a:t>Highest Recall (0.8186): It identifies most of the pneumonia cases, which is crucial in healthcare to minimize false negatives.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0" i="0" u="none" strike="noStrike" cap="none">
                <a:solidFill>
                  <a:schemeClr val="dk1"/>
                </a:solidFill>
                <a:latin typeface="Calibri"/>
                <a:ea typeface="Calibri"/>
                <a:cs typeface="Calibri"/>
                <a:sym typeface="Calibri"/>
              </a:rPr>
              <a:t>Balanced F1 Score (0.6012): The F1 score, which balances precision and recall, is the highest among all models, indicating that it performs well in both identifying pneumonia cases and minimizing false positives.</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This makes the R-CNN Model the most suitable for practical use, where detecting as many pneumonia cases as possible (high recall) and maintaining a balance with precision is critical.</a:t>
            </a:r>
            <a:endParaRPr/>
          </a:p>
          <a:p>
            <a:pPr marL="171450" marR="0" lvl="0" indent="-825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Key Improvements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L2 Regularization: </a:t>
            </a:r>
            <a:r>
              <a:rPr lang="en-US" sz="1200" b="0" i="0" u="none" strike="noStrike" cap="none">
                <a:solidFill>
                  <a:schemeClr val="dk1"/>
                </a:solidFill>
                <a:latin typeface="Calibri"/>
                <a:ea typeface="Calibri"/>
                <a:cs typeface="Calibri"/>
                <a:sym typeface="Calibri"/>
              </a:rPr>
              <a:t>Adding regularization to the base CNN reduced overfitting, resulting in an improved accuracy of 72.81%.</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Data Augmentation: </a:t>
            </a:r>
            <a:r>
              <a:rPr lang="en-US" sz="1200" b="0" i="0" u="none" strike="noStrike" cap="none">
                <a:solidFill>
                  <a:schemeClr val="dk1"/>
                </a:solidFill>
                <a:latin typeface="Calibri"/>
                <a:ea typeface="Calibri"/>
                <a:cs typeface="Calibri"/>
                <a:sym typeface="Calibri"/>
              </a:rPr>
              <a:t>Implementing data augmentation techniques such as random flipping, rotation, and zooming helped address class imbalance and improved the model's robustness, though precision still needed enhancement.</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Transfer Learning with ResNet50: </a:t>
            </a:r>
            <a:r>
              <a:rPr lang="en-US" sz="1200" b="0" i="0" u="none" strike="noStrike" cap="none">
                <a:solidFill>
                  <a:schemeClr val="dk1"/>
                </a:solidFill>
                <a:latin typeface="Calibri"/>
                <a:ea typeface="Calibri"/>
                <a:cs typeface="Calibri"/>
                <a:sym typeface="Calibri"/>
              </a:rPr>
              <a:t>By leveraging the pre-trained ResNet50 model and fine-tuning it, the final model was able to extract more meaningful features from the chest X-rays. This led to a more significant boost in performance compared to training from scratch.</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In conclusion, the final model successfully outperformed the baseline model by a notable margin in accuracy and F1 score, primarily due to the use of regularization, data augmentation, and transfer learning.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5"/>
          <p:cNvSpPr txBox="1"/>
          <p:nvPr/>
        </p:nvSpPr>
        <p:spPr>
          <a:xfrm>
            <a:off x="0" y="-50557"/>
            <a:ext cx="12192000" cy="59568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Data Visualization / EDA</a:t>
            </a:r>
            <a:endParaRPr sz="2800" b="0" i="0" u="none" strike="noStrike" cap="none">
              <a:solidFill>
                <a:srgbClr val="3F3F3F"/>
              </a:solidFill>
              <a:latin typeface="Calibri"/>
              <a:ea typeface="Calibri"/>
              <a:cs typeface="Calibri"/>
              <a:sym typeface="Calibri"/>
            </a:endParaRPr>
          </a:p>
        </p:txBody>
      </p:sp>
      <p:sp>
        <p:nvSpPr>
          <p:cNvPr id="160" name="Google Shape;160;p5"/>
          <p:cNvSpPr txBox="1"/>
          <p:nvPr/>
        </p:nvSpPr>
        <p:spPr>
          <a:xfrm>
            <a:off x="407334" y="501168"/>
            <a:ext cx="11655712" cy="470898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The Exploratory Data Analysis (EDA) involved examining the distribution of classes, visualizing the images, and identifying patterns within the data. Following are the key steps in the pre-processing -</a:t>
            </a:r>
            <a:endParaRPr sz="1400" b="0" i="0" u="none" strike="noStrike" cap="none">
              <a:solidFill>
                <a:srgbClr val="000000"/>
              </a:solidFill>
              <a:latin typeface="Arial"/>
              <a:ea typeface="Arial"/>
              <a:cs typeface="Arial"/>
              <a:sym typeface="Arial"/>
            </a:endParaRPr>
          </a:p>
          <a:p>
            <a:pPr marL="171450" marR="0" lvl="0" indent="-95250" algn="l" rtl="0">
              <a:lnSpc>
                <a:spcPct val="100000"/>
              </a:lnSpc>
              <a:spcBef>
                <a:spcPts val="0"/>
              </a:spcBef>
              <a:spcAft>
                <a:spcPts val="0"/>
              </a:spcAft>
              <a:buClr>
                <a:schemeClr val="dk1"/>
              </a:buClr>
              <a:buSzPts val="1200"/>
              <a:buFont typeface="Arial"/>
              <a:buNone/>
            </a:pPr>
            <a:endParaRPr sz="1200" b="0" i="0" u="none" strike="noStrike" cap="none">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1" i="0" u="none" strike="noStrike" cap="none">
                <a:solidFill>
                  <a:schemeClr val="dk1"/>
                </a:solidFill>
                <a:latin typeface="Calibri"/>
                <a:ea typeface="Calibri"/>
                <a:cs typeface="Calibri"/>
                <a:sym typeface="Calibri"/>
              </a:rPr>
              <a:t>Class Distribution: </a:t>
            </a:r>
            <a:r>
              <a:rPr lang="en-US" sz="1200" b="0" i="0" u="none" strike="noStrike" cap="none">
                <a:solidFill>
                  <a:schemeClr val="dk1"/>
                </a:solidFill>
                <a:latin typeface="Calibri"/>
                <a:ea typeface="Calibri"/>
                <a:cs typeface="Calibri"/>
                <a:sym typeface="Calibri"/>
              </a:rPr>
              <a:t>One of the initial steps in EDA was to analyze the class distribution. We observed a class imbalance, with a higher number of normal images compared to pneumonia images. This imbalance was addressed later in the process through data augmentation techniques to prevent bias in model training.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1" i="0" u="none" strike="noStrike" cap="none">
                <a:solidFill>
                  <a:schemeClr val="dk1"/>
                </a:solidFill>
                <a:latin typeface="Calibri"/>
                <a:ea typeface="Calibri"/>
                <a:cs typeface="Calibri"/>
                <a:sym typeface="Calibri"/>
              </a:rPr>
              <a:t>Image Quality and Characteristics: </a:t>
            </a:r>
            <a:r>
              <a:rPr lang="en-US" sz="1200" b="0" i="0" u="none" strike="noStrike" cap="none">
                <a:solidFill>
                  <a:schemeClr val="dk1"/>
                </a:solidFill>
                <a:latin typeface="Calibri"/>
                <a:ea typeface="Calibri"/>
                <a:cs typeface="Calibri"/>
                <a:sym typeface="Calibri"/>
              </a:rPr>
              <a:t>To gain insights into the image data, several visualizations were generated:</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200"/>
              <a:buFont typeface="Courier New"/>
              <a:buChar char="o"/>
            </a:pPr>
            <a:r>
              <a:rPr lang="en-US" sz="1200" b="1" i="0" u="none" strike="noStrike" cap="none">
                <a:solidFill>
                  <a:schemeClr val="dk1"/>
                </a:solidFill>
                <a:latin typeface="Calibri"/>
                <a:ea typeface="Calibri"/>
                <a:cs typeface="Calibri"/>
                <a:sym typeface="Calibri"/>
              </a:rPr>
              <a:t>Sample</a:t>
            </a:r>
            <a:r>
              <a:rPr lang="en-US" sz="1200" b="0" i="0" u="none" strike="noStrike" cap="none">
                <a:solidFill>
                  <a:schemeClr val="dk1"/>
                </a:solidFill>
                <a:latin typeface="Calibri"/>
                <a:ea typeface="Calibri"/>
                <a:cs typeface="Calibri"/>
                <a:sym typeface="Calibri"/>
              </a:rPr>
              <a:t> </a:t>
            </a:r>
            <a:r>
              <a:rPr lang="en-US" sz="1200" b="1" i="0" u="none" strike="noStrike" cap="none">
                <a:solidFill>
                  <a:schemeClr val="dk1"/>
                </a:solidFill>
                <a:latin typeface="Calibri"/>
                <a:ea typeface="Calibri"/>
                <a:cs typeface="Calibri"/>
                <a:sym typeface="Calibri"/>
              </a:rPr>
              <a:t>Images</a:t>
            </a:r>
            <a:r>
              <a:rPr lang="en-US" sz="1200" b="0" i="0" u="none" strike="noStrike" cap="none">
                <a:solidFill>
                  <a:schemeClr val="dk1"/>
                </a:solidFill>
                <a:latin typeface="Calibri"/>
                <a:ea typeface="Calibri"/>
                <a:cs typeface="Calibri"/>
                <a:sym typeface="Calibri"/>
              </a:rPr>
              <a:t>: Displaying random samples from each class helped us understand the visual differences between pneumonia and normal cases. Pneumonia images generally showed increased lung opacity and irregularities in lung structure.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1" i="0" u="none" strike="noStrike" cap="none">
                <a:solidFill>
                  <a:schemeClr val="dk1"/>
                </a:solidFill>
                <a:latin typeface="Calibri"/>
                <a:ea typeface="Calibri"/>
                <a:cs typeface="Calibri"/>
                <a:sym typeface="Calibri"/>
              </a:rPr>
              <a:t>Pre-processing Steps: </a:t>
            </a:r>
            <a:r>
              <a:rPr lang="en-US" sz="1200" b="0" i="0" u="none" strike="noStrike" cap="none">
                <a:solidFill>
                  <a:schemeClr val="dk1"/>
                </a:solidFill>
                <a:latin typeface="Calibri"/>
                <a:ea typeface="Calibri"/>
                <a:cs typeface="Calibri"/>
                <a:sym typeface="Calibri"/>
              </a:rPr>
              <a:t>Pre-processing was essential to ensure the images were in a suitable format for model training:</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200"/>
              <a:buFont typeface="Courier New"/>
              <a:buChar char="o"/>
            </a:pPr>
            <a:r>
              <a:rPr lang="en-US" sz="1200" b="1" i="0" u="none" strike="noStrike" cap="none">
                <a:solidFill>
                  <a:schemeClr val="dk1"/>
                </a:solidFill>
                <a:latin typeface="Calibri"/>
                <a:ea typeface="Calibri"/>
                <a:cs typeface="Calibri"/>
                <a:sym typeface="Calibri"/>
              </a:rPr>
              <a:t>Resizing</a:t>
            </a:r>
            <a:r>
              <a:rPr lang="en-US" sz="1200" b="0" i="0" u="none" strike="noStrike" cap="none">
                <a:solidFill>
                  <a:schemeClr val="dk1"/>
                </a:solidFill>
                <a:latin typeface="Calibri"/>
                <a:ea typeface="Calibri"/>
                <a:cs typeface="Calibri"/>
                <a:sym typeface="Calibri"/>
              </a:rPr>
              <a:t>: All images were resized to a consistent dimension (300 x 300 pixels) to standardize the input size for the models.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200"/>
              <a:buFont typeface="Courier New"/>
              <a:buChar char="o"/>
            </a:pPr>
            <a:r>
              <a:rPr lang="en-US" sz="1200" b="1" i="0" u="none" strike="noStrike" cap="none">
                <a:solidFill>
                  <a:schemeClr val="dk1"/>
                </a:solidFill>
                <a:latin typeface="Calibri"/>
                <a:ea typeface="Calibri"/>
                <a:cs typeface="Calibri"/>
                <a:sym typeface="Calibri"/>
              </a:rPr>
              <a:t>Normalization</a:t>
            </a:r>
            <a:r>
              <a:rPr lang="en-US" sz="1200" b="0" i="0" u="none" strike="noStrike" cap="none">
                <a:solidFill>
                  <a:schemeClr val="dk1"/>
                </a:solidFill>
                <a:latin typeface="Calibri"/>
                <a:ea typeface="Calibri"/>
                <a:cs typeface="Calibri"/>
                <a:sym typeface="Calibri"/>
              </a:rPr>
              <a:t>: Pixel values were normalized to a range between 0 and 1, which helps in faster convergence during model training.</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200"/>
              <a:buFont typeface="Courier New"/>
              <a:buChar char="o"/>
            </a:pPr>
            <a:r>
              <a:rPr lang="en-US" sz="1200" b="1" i="0" u="none" strike="noStrike" cap="none">
                <a:solidFill>
                  <a:schemeClr val="dk1"/>
                </a:solidFill>
                <a:latin typeface="Calibri"/>
                <a:ea typeface="Calibri"/>
                <a:cs typeface="Calibri"/>
                <a:sym typeface="Calibri"/>
              </a:rPr>
              <a:t>Data</a:t>
            </a:r>
            <a:r>
              <a:rPr lang="en-US" sz="1200" b="0" i="0" u="none" strike="noStrike" cap="none">
                <a:solidFill>
                  <a:schemeClr val="dk1"/>
                </a:solidFill>
                <a:latin typeface="Calibri"/>
                <a:ea typeface="Calibri"/>
                <a:cs typeface="Calibri"/>
                <a:sym typeface="Calibri"/>
              </a:rPr>
              <a:t> </a:t>
            </a:r>
            <a:r>
              <a:rPr lang="en-US" sz="1200" b="1" i="0" u="none" strike="noStrike" cap="none">
                <a:solidFill>
                  <a:schemeClr val="dk1"/>
                </a:solidFill>
                <a:latin typeface="Calibri"/>
                <a:ea typeface="Calibri"/>
                <a:cs typeface="Calibri"/>
                <a:sym typeface="Calibri"/>
              </a:rPr>
              <a:t>Augmentation</a:t>
            </a:r>
            <a:r>
              <a:rPr lang="en-US" sz="1200" b="0" i="0" u="none" strike="noStrike" cap="none">
                <a:solidFill>
                  <a:schemeClr val="dk1"/>
                </a:solidFill>
                <a:latin typeface="Calibri"/>
                <a:ea typeface="Calibri"/>
                <a:cs typeface="Calibri"/>
                <a:sym typeface="Calibri"/>
              </a:rPr>
              <a:t>: To address the class imbalance and improve the model's generalization ability, we applied data augmentation techniques such as rotation, zoom, horizontal flipping, and brightness adjustments.</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1" i="0" u="none" strike="noStrike" cap="none">
                <a:solidFill>
                  <a:schemeClr val="dk1"/>
                </a:solidFill>
                <a:latin typeface="Calibri"/>
                <a:ea typeface="Calibri"/>
                <a:cs typeface="Calibri"/>
                <a:sym typeface="Calibri"/>
              </a:rPr>
              <a:t>Key Insights and Features</a:t>
            </a:r>
            <a:r>
              <a:rPr lang="en-US" sz="1200" b="0" i="0" u="none" strike="noStrike" cap="none">
                <a:solidFill>
                  <a:schemeClr val="dk1"/>
                </a:solidFill>
                <a:latin typeface="Calibri"/>
                <a:ea typeface="Calibri"/>
                <a:cs typeface="Calibri"/>
                <a:sym typeface="Calibri"/>
              </a:rPr>
              <a:t>: During EDA, we identified several meaningful features and patterns: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200"/>
              <a:buFont typeface="Courier New"/>
              <a:buChar char="o"/>
            </a:pPr>
            <a:r>
              <a:rPr lang="en-US" sz="1200" b="1" i="0" u="none" strike="noStrike" cap="none">
                <a:solidFill>
                  <a:schemeClr val="dk1"/>
                </a:solidFill>
                <a:latin typeface="Calibri"/>
                <a:ea typeface="Calibri"/>
                <a:cs typeface="Calibri"/>
                <a:sym typeface="Calibri"/>
              </a:rPr>
              <a:t>Lung</a:t>
            </a:r>
            <a:r>
              <a:rPr lang="en-US" sz="1200" b="0" i="0" u="none" strike="noStrike" cap="none">
                <a:solidFill>
                  <a:schemeClr val="dk1"/>
                </a:solidFill>
                <a:latin typeface="Calibri"/>
                <a:ea typeface="Calibri"/>
                <a:cs typeface="Calibri"/>
                <a:sym typeface="Calibri"/>
              </a:rPr>
              <a:t> </a:t>
            </a:r>
            <a:r>
              <a:rPr lang="en-US" sz="1200" b="1" i="0" u="none" strike="noStrike" cap="none">
                <a:solidFill>
                  <a:schemeClr val="dk1"/>
                </a:solidFill>
                <a:latin typeface="Calibri"/>
                <a:ea typeface="Calibri"/>
                <a:cs typeface="Calibri"/>
                <a:sym typeface="Calibri"/>
              </a:rPr>
              <a:t>Opacity</a:t>
            </a:r>
            <a:r>
              <a:rPr lang="en-US" sz="1200" b="0" i="0" u="none" strike="noStrike" cap="none">
                <a:solidFill>
                  <a:schemeClr val="dk1"/>
                </a:solidFill>
                <a:latin typeface="Calibri"/>
                <a:ea typeface="Calibri"/>
                <a:cs typeface="Calibri"/>
                <a:sym typeface="Calibri"/>
              </a:rPr>
              <a:t>: Pneumonia cases showed distinct patterns of lung opacity compared to normal cases. This feature was crucial in distinguishing between the two classes.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1" i="0" u="none" strike="noStrike" cap="none">
                <a:solidFill>
                  <a:schemeClr val="dk1"/>
                </a:solidFill>
                <a:latin typeface="Calibri"/>
                <a:ea typeface="Calibri"/>
                <a:cs typeface="Calibri"/>
                <a:sym typeface="Calibri"/>
              </a:rPr>
              <a:t>Visualizations</a:t>
            </a:r>
            <a:r>
              <a:rPr lang="en-US" sz="1200" b="0" i="0" u="none" strike="noStrike" cap="none">
                <a:solidFill>
                  <a:schemeClr val="dk1"/>
                </a:solidFill>
                <a:latin typeface="Calibri"/>
                <a:ea typeface="Calibri"/>
                <a:cs typeface="Calibri"/>
                <a:sym typeface="Calibri"/>
              </a:rPr>
              <a:t>: Several visual displays were used to convey the insights: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200"/>
              <a:buFont typeface="Courier New"/>
              <a:buChar char="o"/>
            </a:pPr>
            <a:r>
              <a:rPr lang="en-US" sz="1200" b="1" i="0" u="none" strike="noStrike" cap="none">
                <a:solidFill>
                  <a:schemeClr val="dk1"/>
                </a:solidFill>
                <a:latin typeface="Calibri"/>
                <a:ea typeface="Calibri"/>
                <a:cs typeface="Calibri"/>
                <a:sym typeface="Calibri"/>
              </a:rPr>
              <a:t>Class Distribution Plot</a:t>
            </a:r>
            <a:r>
              <a:rPr lang="en-US" sz="1200" b="0" i="0" u="none" strike="noStrike" cap="none">
                <a:solidFill>
                  <a:schemeClr val="dk1"/>
                </a:solidFill>
                <a:latin typeface="Calibri"/>
                <a:ea typeface="Calibri"/>
                <a:cs typeface="Calibri"/>
                <a:sym typeface="Calibri"/>
              </a:rPr>
              <a:t>: A bar chart depicting the imbalance between pneumonia and normal cases.</a:t>
            </a:r>
            <a:endParaRPr sz="1400" b="0" i="0" u="none" strike="noStrike" cap="none">
              <a:solidFill>
                <a:srgbClr val="000000"/>
              </a:solidFill>
              <a:latin typeface="Arial"/>
              <a:ea typeface="Arial"/>
              <a:cs typeface="Arial"/>
              <a:sym typeface="Arial"/>
            </a:endParaRPr>
          </a:p>
          <a:p>
            <a:pPr marL="628650" marR="0" lvl="1" indent="-171450" algn="l" rtl="0">
              <a:lnSpc>
                <a:spcPct val="100000"/>
              </a:lnSpc>
              <a:spcBef>
                <a:spcPts val="0"/>
              </a:spcBef>
              <a:spcAft>
                <a:spcPts val="0"/>
              </a:spcAft>
              <a:buClr>
                <a:schemeClr val="dk1"/>
              </a:buClr>
              <a:buSzPts val="1200"/>
              <a:buFont typeface="Courier New"/>
              <a:buChar char="o"/>
            </a:pPr>
            <a:r>
              <a:rPr lang="en-US" sz="1200" b="1" i="0" u="none" strike="noStrike" cap="none">
                <a:solidFill>
                  <a:schemeClr val="dk1"/>
                </a:solidFill>
                <a:latin typeface="Calibri"/>
                <a:ea typeface="Calibri"/>
                <a:cs typeface="Calibri"/>
                <a:sym typeface="Calibri"/>
              </a:rPr>
              <a:t>Sample</a:t>
            </a:r>
            <a:r>
              <a:rPr lang="en-US" sz="1200" b="0" i="0" u="none" strike="noStrike" cap="none">
                <a:solidFill>
                  <a:schemeClr val="dk1"/>
                </a:solidFill>
                <a:latin typeface="Calibri"/>
                <a:ea typeface="Calibri"/>
                <a:cs typeface="Calibri"/>
                <a:sym typeface="Calibri"/>
              </a:rPr>
              <a:t> </a:t>
            </a:r>
            <a:r>
              <a:rPr lang="en-US" sz="1200" b="1" i="0" u="none" strike="noStrike" cap="none">
                <a:solidFill>
                  <a:schemeClr val="dk1"/>
                </a:solidFill>
                <a:latin typeface="Calibri"/>
                <a:ea typeface="Calibri"/>
                <a:cs typeface="Calibri"/>
                <a:sym typeface="Calibri"/>
              </a:rPr>
              <a:t>Image</a:t>
            </a:r>
            <a:r>
              <a:rPr lang="en-US" sz="1200" b="0" i="0" u="none" strike="noStrike" cap="none">
                <a:solidFill>
                  <a:schemeClr val="dk1"/>
                </a:solidFill>
                <a:latin typeface="Calibri"/>
                <a:ea typeface="Calibri"/>
                <a:cs typeface="Calibri"/>
                <a:sym typeface="Calibri"/>
              </a:rPr>
              <a:t> </a:t>
            </a:r>
            <a:r>
              <a:rPr lang="en-US" sz="1200" b="1" i="0" u="none" strike="noStrike" cap="none">
                <a:solidFill>
                  <a:schemeClr val="dk1"/>
                </a:solidFill>
                <a:latin typeface="Calibri"/>
                <a:ea typeface="Calibri"/>
                <a:cs typeface="Calibri"/>
                <a:sym typeface="Calibri"/>
              </a:rPr>
              <a:t>Grid</a:t>
            </a:r>
            <a:r>
              <a:rPr lang="en-US" sz="1200" b="0" i="0" u="none" strike="noStrike" cap="none">
                <a:solidFill>
                  <a:schemeClr val="dk1"/>
                </a:solidFill>
                <a:latin typeface="Calibri"/>
                <a:ea typeface="Calibri"/>
                <a:cs typeface="Calibri"/>
                <a:sym typeface="Calibri"/>
              </a:rPr>
              <a:t>: A grid of sample images from each class to visually compare them.</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Calibri"/>
                <a:ea typeface="Calibri"/>
                <a:cs typeface="Calibri"/>
                <a:sym typeface="Calibri"/>
              </a:rPr>
              <a:t>These visualizations provided valuable insights into the dataset and guided the pre-processing steps. They also informed the feature selection process, helping to identify which characteristics of the images were most relevant for distinguishing between pneumonia and normal cases.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6"/>
          <p:cNvSpPr txBox="1"/>
          <p:nvPr/>
        </p:nvSpPr>
        <p:spPr>
          <a:xfrm>
            <a:off x="1" y="23024"/>
            <a:ext cx="12192000" cy="548476"/>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Key Visualizations</a:t>
            </a:r>
            <a:endParaRPr sz="1400" b="0" i="0" u="none" strike="noStrike" cap="none">
              <a:solidFill>
                <a:srgbClr val="000000"/>
              </a:solidFill>
              <a:latin typeface="Arial"/>
              <a:ea typeface="Arial"/>
              <a:cs typeface="Arial"/>
              <a:sym typeface="Arial"/>
            </a:endParaRPr>
          </a:p>
        </p:txBody>
      </p:sp>
      <p:pic>
        <p:nvPicPr>
          <p:cNvPr id="166" name="Google Shape;166;p6"/>
          <p:cNvPicPr preferRelativeResize="0"/>
          <p:nvPr/>
        </p:nvPicPr>
        <p:blipFill rotWithShape="1">
          <a:blip r:embed="rId3">
            <a:alphaModFix/>
          </a:blip>
          <a:srcRect/>
          <a:stretch/>
        </p:blipFill>
        <p:spPr>
          <a:xfrm>
            <a:off x="580293" y="1002322"/>
            <a:ext cx="4387361" cy="4712677"/>
          </a:xfrm>
          <a:prstGeom prst="rect">
            <a:avLst/>
          </a:prstGeom>
          <a:noFill/>
          <a:ln>
            <a:noFill/>
          </a:ln>
        </p:spPr>
      </p:pic>
      <p:sp>
        <p:nvSpPr>
          <p:cNvPr id="167" name="Google Shape;167;p6"/>
          <p:cNvSpPr txBox="1"/>
          <p:nvPr/>
        </p:nvSpPr>
        <p:spPr>
          <a:xfrm>
            <a:off x="4818185" y="1635192"/>
            <a:ext cx="7058842"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alibri"/>
                <a:ea typeface="Calibri"/>
                <a:cs typeface="Calibri"/>
                <a:sym typeface="Calibri"/>
              </a:rPr>
              <a:t>Distribution of pneumonia vs. normal cases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Overall 26684 patient x-ray images are available for pneumonia detection.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Number of pneumonia cases in the dataset are 6012, which is around 22.5% of total cases.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Number of Normal cases in the dataset are 20672, which is around 77.5% of total cases.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7"/>
          <p:cNvSpPr txBox="1"/>
          <p:nvPr/>
        </p:nvSpPr>
        <p:spPr>
          <a:xfrm>
            <a:off x="1" y="23024"/>
            <a:ext cx="12192000" cy="548476"/>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Key Visualizations</a:t>
            </a:r>
            <a:endParaRPr sz="1400" b="0" i="0" u="none" strike="noStrike" cap="none">
              <a:solidFill>
                <a:srgbClr val="000000"/>
              </a:solidFill>
              <a:latin typeface="Arial"/>
              <a:ea typeface="Arial"/>
              <a:cs typeface="Arial"/>
              <a:sym typeface="Arial"/>
            </a:endParaRPr>
          </a:p>
        </p:txBody>
      </p:sp>
      <p:sp>
        <p:nvSpPr>
          <p:cNvPr id="173" name="Google Shape;173;p7"/>
          <p:cNvSpPr txBox="1"/>
          <p:nvPr/>
        </p:nvSpPr>
        <p:spPr>
          <a:xfrm>
            <a:off x="685800" y="571500"/>
            <a:ext cx="10023231" cy="12311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alibri"/>
                <a:ea typeface="Calibri"/>
                <a:cs typeface="Calibri"/>
                <a:sym typeface="Calibri"/>
              </a:rPr>
              <a:t>Distribution of pneumonia vs. age group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Highest count of pneumonia cases belongs to age group of 50 to 60.</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Highest number pneumonia cases belongs to age group of 30 to 70 which comes around 60%-70% of overall cases.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Least number of pneumonia  case reported for age group of &gt;20 &amp; &lt;70.</a:t>
            </a:r>
            <a:endParaRPr sz="1400" b="0" i="0" u="none" strike="noStrike" cap="none">
              <a:solidFill>
                <a:srgbClr val="000000"/>
              </a:solidFill>
              <a:latin typeface="Arial"/>
              <a:ea typeface="Arial"/>
              <a:cs typeface="Arial"/>
              <a:sym typeface="Arial"/>
            </a:endParaRPr>
          </a:p>
        </p:txBody>
      </p:sp>
      <p:pic>
        <p:nvPicPr>
          <p:cNvPr id="174" name="Google Shape;174;p7"/>
          <p:cNvPicPr preferRelativeResize="0"/>
          <p:nvPr/>
        </p:nvPicPr>
        <p:blipFill rotWithShape="1">
          <a:blip r:embed="rId3">
            <a:alphaModFix/>
          </a:blip>
          <a:srcRect/>
          <a:stretch/>
        </p:blipFill>
        <p:spPr>
          <a:xfrm>
            <a:off x="685800" y="2123539"/>
            <a:ext cx="9763125" cy="426846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5"/>
          <p:cNvSpPr txBox="1"/>
          <p:nvPr/>
        </p:nvSpPr>
        <p:spPr>
          <a:xfrm>
            <a:off x="1" y="23024"/>
            <a:ext cx="12192000" cy="548476"/>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Key Visualizations</a:t>
            </a:r>
            <a:endParaRPr sz="1400" b="0" i="0" u="none" strike="noStrike" cap="none">
              <a:solidFill>
                <a:srgbClr val="000000"/>
              </a:solidFill>
              <a:latin typeface="Arial"/>
              <a:ea typeface="Arial"/>
              <a:cs typeface="Arial"/>
              <a:sym typeface="Arial"/>
            </a:endParaRPr>
          </a:p>
        </p:txBody>
      </p:sp>
      <p:sp>
        <p:nvSpPr>
          <p:cNvPr id="180" name="Google Shape;180;p35"/>
          <p:cNvSpPr txBox="1"/>
          <p:nvPr/>
        </p:nvSpPr>
        <p:spPr>
          <a:xfrm>
            <a:off x="685800" y="571500"/>
            <a:ext cx="10023231" cy="123110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alibri"/>
                <a:ea typeface="Calibri"/>
                <a:cs typeface="Calibri"/>
                <a:sym typeface="Calibri"/>
              </a:rPr>
              <a:t>Distribution of pneumonia vs. age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Highest count of pneumonia cases belongs to age group of 50 to 60.</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Highest number pneumonia cases belongs to age group of 30 to 70 which comes around 60%-70% of overall cases.</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Least number of pneumonia  case reported for age group of &gt;20 &amp; &lt;70.</a:t>
            </a:r>
            <a:endParaRPr sz="1400" b="0" i="0" u="none" strike="noStrike" cap="none">
              <a:solidFill>
                <a:srgbClr val="000000"/>
              </a:solidFill>
              <a:latin typeface="Arial"/>
              <a:ea typeface="Arial"/>
              <a:cs typeface="Arial"/>
              <a:sym typeface="Arial"/>
            </a:endParaRPr>
          </a:p>
        </p:txBody>
      </p:sp>
      <p:pic>
        <p:nvPicPr>
          <p:cNvPr id="181" name="Google Shape;181;p35"/>
          <p:cNvPicPr preferRelativeResize="0"/>
          <p:nvPr/>
        </p:nvPicPr>
        <p:blipFill rotWithShape="1">
          <a:blip r:embed="rId3">
            <a:alphaModFix/>
          </a:blip>
          <a:srcRect/>
          <a:stretch/>
        </p:blipFill>
        <p:spPr>
          <a:xfrm>
            <a:off x="307601" y="1909482"/>
            <a:ext cx="11642352" cy="437701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8"/>
          <p:cNvSpPr txBox="1"/>
          <p:nvPr/>
        </p:nvSpPr>
        <p:spPr>
          <a:xfrm>
            <a:off x="1" y="23024"/>
            <a:ext cx="12192000" cy="548476"/>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Key Visualizations</a:t>
            </a:r>
            <a:endParaRPr sz="1400" b="0" i="0" u="none" strike="noStrike" cap="none">
              <a:solidFill>
                <a:srgbClr val="000000"/>
              </a:solidFill>
              <a:latin typeface="Arial"/>
              <a:ea typeface="Arial"/>
              <a:cs typeface="Arial"/>
              <a:sym typeface="Arial"/>
            </a:endParaRPr>
          </a:p>
        </p:txBody>
      </p:sp>
      <p:sp>
        <p:nvSpPr>
          <p:cNvPr id="187" name="Google Shape;187;p8"/>
          <p:cNvSpPr txBox="1"/>
          <p:nvPr/>
        </p:nvSpPr>
        <p:spPr>
          <a:xfrm>
            <a:off x="685800" y="571500"/>
            <a:ext cx="10023231" cy="14465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chemeClr val="dk1"/>
                </a:solidFill>
                <a:latin typeface="Calibri"/>
                <a:ea typeface="Calibri"/>
                <a:cs typeface="Calibri"/>
                <a:sym typeface="Calibri"/>
              </a:rPr>
              <a:t>Distribution of pneumonia vs. gender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Blue colour indicates if the patient is normal and by red colour indicates that patient has pneumonia.</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As per below statics that male are more prone to have pneumonia.</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Female pneumonia cases identified around 1497.</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400"/>
              <a:buFont typeface="Arial"/>
              <a:buChar char="•"/>
            </a:pPr>
            <a:r>
              <a:rPr lang="en-US" sz="1400" b="0" i="0" u="none" strike="noStrike" cap="none">
                <a:solidFill>
                  <a:schemeClr val="dk1"/>
                </a:solidFill>
                <a:latin typeface="Calibri"/>
                <a:ea typeface="Calibri"/>
                <a:cs typeface="Calibri"/>
                <a:sym typeface="Calibri"/>
              </a:rPr>
              <a:t>Male pneumonia cases identified around 2177</a:t>
            </a:r>
            <a:endParaRPr sz="1400" b="0" i="0" u="none" strike="noStrike" cap="none">
              <a:solidFill>
                <a:srgbClr val="000000"/>
              </a:solidFill>
              <a:latin typeface="Arial"/>
              <a:ea typeface="Arial"/>
              <a:cs typeface="Arial"/>
              <a:sym typeface="Arial"/>
            </a:endParaRPr>
          </a:p>
        </p:txBody>
      </p:sp>
      <p:pic>
        <p:nvPicPr>
          <p:cNvPr id="188" name="Google Shape;188;p8"/>
          <p:cNvPicPr preferRelativeResize="0"/>
          <p:nvPr/>
        </p:nvPicPr>
        <p:blipFill rotWithShape="1">
          <a:blip r:embed="rId3">
            <a:alphaModFix/>
          </a:blip>
          <a:srcRect/>
          <a:stretch/>
        </p:blipFill>
        <p:spPr>
          <a:xfrm>
            <a:off x="271096" y="2347546"/>
            <a:ext cx="11649808" cy="347305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6"/>
          <p:cNvSpPr txBox="1"/>
          <p:nvPr/>
        </p:nvSpPr>
        <p:spPr>
          <a:xfrm>
            <a:off x="1" y="23024"/>
            <a:ext cx="12192000" cy="548476"/>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Key Visualizations</a:t>
            </a:r>
            <a:endParaRPr sz="1400" b="0" i="0" u="none" strike="noStrike" cap="none">
              <a:solidFill>
                <a:srgbClr val="000000"/>
              </a:solidFill>
              <a:latin typeface="Arial"/>
              <a:ea typeface="Arial"/>
              <a:cs typeface="Arial"/>
              <a:sym typeface="Arial"/>
            </a:endParaRPr>
          </a:p>
        </p:txBody>
      </p:sp>
      <p:sp>
        <p:nvSpPr>
          <p:cNvPr id="194" name="Google Shape;194;p36"/>
          <p:cNvSpPr txBox="1"/>
          <p:nvPr/>
        </p:nvSpPr>
        <p:spPr>
          <a:xfrm>
            <a:off x="685800" y="571500"/>
            <a:ext cx="10023231"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i="0" u="none" strike="noStrike" cap="none">
                <a:solidFill>
                  <a:schemeClr val="dk1"/>
                </a:solidFill>
                <a:latin typeface="Calibri"/>
                <a:ea typeface="Calibri"/>
                <a:cs typeface="Calibri"/>
                <a:sym typeface="Calibri"/>
              </a:rPr>
              <a:t>Patient With Pneumonia</a:t>
            </a:r>
            <a:endParaRPr/>
          </a:p>
        </p:txBody>
      </p:sp>
      <p:pic>
        <p:nvPicPr>
          <p:cNvPr id="195" name="Google Shape;195;p36"/>
          <p:cNvPicPr preferRelativeResize="0"/>
          <p:nvPr/>
        </p:nvPicPr>
        <p:blipFill rotWithShape="1">
          <a:blip r:embed="rId3">
            <a:alphaModFix/>
          </a:blip>
          <a:srcRect/>
          <a:stretch/>
        </p:blipFill>
        <p:spPr>
          <a:xfrm>
            <a:off x="530319" y="994092"/>
            <a:ext cx="5269846" cy="5292408"/>
          </a:xfrm>
          <a:prstGeom prst="rect">
            <a:avLst/>
          </a:prstGeom>
          <a:noFill/>
          <a:ln>
            <a:noFill/>
          </a:ln>
        </p:spPr>
      </p:pic>
      <p:pic>
        <p:nvPicPr>
          <p:cNvPr id="196" name="Google Shape;196;p36"/>
          <p:cNvPicPr preferRelativeResize="0"/>
          <p:nvPr/>
        </p:nvPicPr>
        <p:blipFill rotWithShape="1">
          <a:blip r:embed="rId4">
            <a:alphaModFix/>
          </a:blip>
          <a:srcRect/>
          <a:stretch/>
        </p:blipFill>
        <p:spPr>
          <a:xfrm>
            <a:off x="5988424" y="994092"/>
            <a:ext cx="5517776" cy="529240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7"/>
          <p:cNvSpPr txBox="1"/>
          <p:nvPr/>
        </p:nvSpPr>
        <p:spPr>
          <a:xfrm>
            <a:off x="1" y="23024"/>
            <a:ext cx="12192000" cy="548476"/>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Key Visualizations</a:t>
            </a:r>
            <a:endParaRPr sz="1400" b="0" i="0" u="none" strike="noStrike" cap="none">
              <a:solidFill>
                <a:srgbClr val="000000"/>
              </a:solidFill>
              <a:latin typeface="Arial"/>
              <a:ea typeface="Arial"/>
              <a:cs typeface="Arial"/>
              <a:sym typeface="Arial"/>
            </a:endParaRPr>
          </a:p>
        </p:txBody>
      </p:sp>
      <p:sp>
        <p:nvSpPr>
          <p:cNvPr id="202" name="Google Shape;202;p37"/>
          <p:cNvSpPr txBox="1"/>
          <p:nvPr/>
        </p:nvSpPr>
        <p:spPr>
          <a:xfrm>
            <a:off x="685800" y="571500"/>
            <a:ext cx="10023231"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600" b="1" i="0" u="none" strike="noStrike" cap="none">
                <a:solidFill>
                  <a:schemeClr val="dk1"/>
                </a:solidFill>
                <a:latin typeface="Calibri"/>
                <a:ea typeface="Calibri"/>
                <a:cs typeface="Calibri"/>
                <a:sym typeface="Calibri"/>
              </a:rPr>
              <a:t>Patient Without Pneumonia</a:t>
            </a:r>
            <a:endParaRPr/>
          </a:p>
        </p:txBody>
      </p:sp>
      <p:pic>
        <p:nvPicPr>
          <p:cNvPr id="203" name="Google Shape;203;p37"/>
          <p:cNvPicPr preferRelativeResize="0"/>
          <p:nvPr/>
        </p:nvPicPr>
        <p:blipFill rotWithShape="1">
          <a:blip r:embed="rId3">
            <a:alphaModFix/>
          </a:blip>
          <a:srcRect/>
          <a:stretch/>
        </p:blipFill>
        <p:spPr>
          <a:xfrm>
            <a:off x="751354" y="952053"/>
            <a:ext cx="5237070" cy="5376486"/>
          </a:xfrm>
          <a:prstGeom prst="rect">
            <a:avLst/>
          </a:prstGeom>
          <a:noFill/>
          <a:ln>
            <a:noFill/>
          </a:ln>
        </p:spPr>
      </p:pic>
      <p:pic>
        <p:nvPicPr>
          <p:cNvPr id="204" name="Google Shape;204;p37"/>
          <p:cNvPicPr preferRelativeResize="0"/>
          <p:nvPr/>
        </p:nvPicPr>
        <p:blipFill rotWithShape="1">
          <a:blip r:embed="rId4">
            <a:alphaModFix/>
          </a:blip>
          <a:srcRect/>
          <a:stretch/>
        </p:blipFill>
        <p:spPr>
          <a:xfrm>
            <a:off x="6203578" y="952053"/>
            <a:ext cx="5163327" cy="533444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8"/>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Implications of the Pneumonia Detection Solution</a:t>
            </a:r>
            <a:endParaRPr sz="2800" b="0" i="0" u="none" strike="noStrike" cap="none">
              <a:solidFill>
                <a:srgbClr val="3F3F3F"/>
              </a:solidFill>
              <a:latin typeface="Calibri"/>
              <a:ea typeface="Calibri"/>
              <a:cs typeface="Calibri"/>
              <a:sym typeface="Calibri"/>
            </a:endParaRPr>
          </a:p>
        </p:txBody>
      </p:sp>
      <p:sp>
        <p:nvSpPr>
          <p:cNvPr id="210" name="Google Shape;210;p38"/>
          <p:cNvSpPr txBox="1"/>
          <p:nvPr/>
        </p:nvSpPr>
        <p:spPr>
          <a:xfrm>
            <a:off x="699246" y="931933"/>
            <a:ext cx="11116233" cy="50782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The final solution for detecting pneumonia in chest X-ray images has several implications for the healthcare domain:</a:t>
            </a:r>
            <a:endParaRPr/>
          </a:p>
          <a:p>
            <a:pPr marL="0" marR="0" lvl="0" indent="0" algn="l" rtl="0">
              <a:lnSpc>
                <a:spcPct val="100000"/>
              </a:lnSpc>
              <a:spcBef>
                <a:spcPts val="0"/>
              </a:spcBef>
              <a:spcAft>
                <a:spcPts val="0"/>
              </a:spcAft>
              <a:buNone/>
            </a:pPr>
            <a:endParaRPr sz="12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Impact on Healthcare</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Automated Diagnosis: </a:t>
            </a:r>
            <a:r>
              <a:rPr lang="en-US" sz="1200" b="0" i="0" u="none" strike="noStrike" cap="none">
                <a:solidFill>
                  <a:schemeClr val="dk1"/>
                </a:solidFill>
                <a:latin typeface="Calibri"/>
                <a:ea typeface="Calibri"/>
                <a:cs typeface="Calibri"/>
                <a:sym typeface="Calibri"/>
              </a:rPr>
              <a:t>The developed model can significantly aid radiologists by providing an initial automated diagnosis of pneumonia, reducing the workload and assisting in detecting cases that might otherwise be missed, especially in high-volume settings.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Faster Triage: </a:t>
            </a:r>
            <a:r>
              <a:rPr lang="en-US" sz="1200" b="0" i="0" u="none" strike="noStrike" cap="none">
                <a:solidFill>
                  <a:schemeClr val="dk1"/>
                </a:solidFill>
                <a:latin typeface="Calibri"/>
                <a:ea typeface="Calibri"/>
                <a:cs typeface="Calibri"/>
                <a:sym typeface="Calibri"/>
              </a:rPr>
              <a:t>By quickly flagging potential pneumonia cases, the system can expedite patient triage, ensuring that high-risk individuals receive prompt medical attention. This is particularly beneficial in emergency departments or areas with limited access to skilled radiologists​.</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Improved Accuracy in Detection</a:t>
            </a:r>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The solution uses transfer learning techniques with ResNet50, which increased the detection accuracy to 75.95%, with improvements in recall and precision. This enhanced performance means fewer false negatives, leading to fewer missed pneumonia cases, a critical factor in reducing mortality due to late diagnosis​.</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Scalability in Resource-Limited Settings</a:t>
            </a:r>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Deploying such models in under-resourced healthcare systems, especially in rural or remote areas, could be a game-changer. Since the model can be integrated into standard radiological workflows, it allows hospitals and clinics to scale their diagnostic capabilities without needing additional personnel.</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Recommendations for Improvement</a:t>
            </a:r>
            <a:endParaRPr/>
          </a:p>
          <a:p>
            <a:pPr marL="228600" marR="0" lvl="0" indent="-228600" algn="l" rtl="0">
              <a:lnSpc>
                <a:spcPct val="100000"/>
              </a:lnSpc>
              <a:spcBef>
                <a:spcPts val="0"/>
              </a:spcBef>
              <a:spcAft>
                <a:spcPts val="0"/>
              </a:spcAft>
              <a:buClr>
                <a:schemeClr val="dk1"/>
              </a:buClr>
              <a:buSzPts val="1400"/>
              <a:buFont typeface="Arial"/>
              <a:buAutoNum type="arabicPeriod"/>
            </a:pPr>
            <a:r>
              <a:rPr lang="en-US" sz="1200" b="1" i="0" u="none" strike="noStrike" cap="none">
                <a:solidFill>
                  <a:schemeClr val="dk1"/>
                </a:solidFill>
                <a:latin typeface="Calibri"/>
                <a:ea typeface="Calibri"/>
                <a:cs typeface="Calibri"/>
                <a:sym typeface="Calibri"/>
              </a:rPr>
              <a:t>Further Data Augmentation: </a:t>
            </a:r>
            <a:r>
              <a:rPr lang="en-US" sz="1200" b="0" i="0" u="none" strike="noStrike" cap="none">
                <a:solidFill>
                  <a:schemeClr val="dk1"/>
                </a:solidFill>
                <a:latin typeface="Calibri"/>
                <a:ea typeface="Calibri"/>
                <a:cs typeface="Calibri"/>
                <a:sym typeface="Calibri"/>
              </a:rPr>
              <a:t>To improve model performance further, especially recall, I recommend experimenting with advanced data augmentation techniques like elastic deformations or synthetic data generation to simulate real-world conditions​.</a:t>
            </a:r>
            <a:endParaRPr/>
          </a:p>
          <a:p>
            <a:pPr marL="228600" marR="0" lvl="0" indent="-228600" algn="l" rtl="0">
              <a:lnSpc>
                <a:spcPct val="100000"/>
              </a:lnSpc>
              <a:spcBef>
                <a:spcPts val="0"/>
              </a:spcBef>
              <a:spcAft>
                <a:spcPts val="0"/>
              </a:spcAft>
              <a:buClr>
                <a:schemeClr val="dk1"/>
              </a:buClr>
              <a:buSzPts val="1400"/>
              <a:buFont typeface="Arial"/>
              <a:buAutoNum type="arabicPeriod"/>
            </a:pPr>
            <a:r>
              <a:rPr lang="en-US" sz="1200" b="1" i="0" u="none" strike="noStrike" cap="none">
                <a:solidFill>
                  <a:schemeClr val="dk1"/>
                </a:solidFill>
                <a:latin typeface="Calibri"/>
                <a:ea typeface="Calibri"/>
                <a:cs typeface="Calibri"/>
                <a:sym typeface="Calibri"/>
              </a:rPr>
              <a:t>Incorporating Object Detection</a:t>
            </a:r>
            <a:r>
              <a:rPr lang="en-US" sz="1200" b="0" i="0" u="none" strike="noStrike" cap="none">
                <a:solidFill>
                  <a:schemeClr val="dk1"/>
                </a:solidFill>
                <a:latin typeface="Calibri"/>
                <a:ea typeface="Calibri"/>
                <a:cs typeface="Calibri"/>
                <a:sym typeface="Calibri"/>
              </a:rPr>
              <a:t>: Implementing R-CNN models for precise localization of pneumonia regions on the X-rays would enhance diagnostic accuracy and clinical usability​.</a:t>
            </a:r>
            <a:endParaRPr/>
          </a:p>
          <a:p>
            <a:pPr marL="228600" marR="0" lvl="0" indent="-228600" algn="l" rtl="0">
              <a:lnSpc>
                <a:spcPct val="100000"/>
              </a:lnSpc>
              <a:spcBef>
                <a:spcPts val="0"/>
              </a:spcBef>
              <a:spcAft>
                <a:spcPts val="0"/>
              </a:spcAft>
              <a:buClr>
                <a:schemeClr val="dk1"/>
              </a:buClr>
              <a:buSzPts val="1400"/>
              <a:buFont typeface="Arial"/>
              <a:buAutoNum type="arabicPeriod"/>
            </a:pPr>
            <a:r>
              <a:rPr lang="en-US" sz="1200" b="1" i="0" u="none" strike="noStrike" cap="none">
                <a:solidFill>
                  <a:schemeClr val="dk1"/>
                </a:solidFill>
                <a:latin typeface="Calibri"/>
                <a:ea typeface="Calibri"/>
                <a:cs typeface="Calibri"/>
                <a:sym typeface="Calibri"/>
              </a:rPr>
              <a:t>Use in Screening Programs</a:t>
            </a:r>
            <a:r>
              <a:rPr lang="en-US" sz="1200" b="0" i="0" u="none" strike="noStrike" cap="none">
                <a:solidFill>
                  <a:schemeClr val="dk1"/>
                </a:solidFill>
                <a:latin typeface="Calibri"/>
                <a:ea typeface="Calibri"/>
                <a:cs typeface="Calibri"/>
                <a:sym typeface="Calibri"/>
              </a:rPr>
              <a:t>: This model can be employed in mass screening programs, especially in outbreak scenarios like COVID-19, to detect pneumonia-related lung abnormalities.</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Confidence Level</a:t>
            </a:r>
            <a:r>
              <a:rPr lang="en-US" sz="1200" b="0" i="0" u="none" strike="noStrike" cap="none">
                <a:solidFill>
                  <a:schemeClr val="dk1"/>
                </a:solidFill>
                <a:latin typeface="Calibri"/>
                <a:ea typeface="Calibri"/>
                <a:cs typeface="Calibri"/>
                <a:sym typeface="Calibri"/>
              </a:rPr>
              <a:t>: </a:t>
            </a:r>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I have a high level of confidence in the model’s ability to generalize across diverse populations, given the improvements seen during transfer learning. However, further validation on more diverse datasets is recommended to ensure robustness in different clinical settings.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9"/>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Limitations of the Pneumonia Detection Solution</a:t>
            </a:r>
            <a:endParaRPr sz="2800" b="0" i="0" u="none" strike="noStrike" cap="none">
              <a:solidFill>
                <a:srgbClr val="3F3F3F"/>
              </a:solidFill>
              <a:latin typeface="Calibri"/>
              <a:ea typeface="Calibri"/>
              <a:cs typeface="Calibri"/>
              <a:sym typeface="Calibri"/>
            </a:endParaRPr>
          </a:p>
        </p:txBody>
      </p:sp>
      <p:sp>
        <p:nvSpPr>
          <p:cNvPr id="216" name="Google Shape;216;p39"/>
          <p:cNvSpPr txBox="1"/>
          <p:nvPr/>
        </p:nvSpPr>
        <p:spPr>
          <a:xfrm>
            <a:off x="699246" y="931933"/>
            <a:ext cx="11116233" cy="41549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Despite the improvements achieved by the fine-tuned ResNet50 model and other enhancements, there are several limitations that affect the model's performance in real-world applications:</a:t>
            </a:r>
            <a:endParaRPr/>
          </a:p>
          <a:p>
            <a:pPr marL="0" marR="0" lvl="0" indent="0" algn="l" rtl="0">
              <a:lnSpc>
                <a:spcPct val="100000"/>
              </a:lnSpc>
              <a:spcBef>
                <a:spcPts val="0"/>
              </a:spcBef>
              <a:spcAft>
                <a:spcPts val="0"/>
              </a:spcAft>
              <a:buNone/>
            </a:pPr>
            <a:endParaRPr sz="12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Class Imbalance</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Issue</a:t>
            </a:r>
            <a:r>
              <a:rPr lang="en-US" sz="1200" b="0" i="0" u="none" strike="noStrike" cap="none">
                <a:solidFill>
                  <a:schemeClr val="dk1"/>
                </a:solidFill>
                <a:latin typeface="Calibri"/>
                <a:ea typeface="Calibri"/>
                <a:cs typeface="Calibri"/>
                <a:sym typeface="Calibri"/>
              </a:rPr>
              <a:t>: The dataset is heavily imbalanced, with pneumonia cases accounting for only 22.5% of the total. This imbalance makes it challenging for the model to correctly identify pneumonia cases, as it may become biased toward the dominant class (normal cases) .</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Impact</a:t>
            </a:r>
            <a:r>
              <a:rPr lang="en-US" sz="1200" b="0" i="0" u="none" strike="noStrike" cap="none">
                <a:solidFill>
                  <a:schemeClr val="dk1"/>
                </a:solidFill>
                <a:latin typeface="Calibri"/>
                <a:ea typeface="Calibri"/>
                <a:cs typeface="Calibri"/>
                <a:sym typeface="Calibri"/>
              </a:rPr>
              <a:t>: This class imbalance negatively affects the model’s recall score, leading to a higher rate of false negatives, which is critical in healthcare scenarios.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Enhancement</a:t>
            </a:r>
            <a:r>
              <a:rPr lang="en-US" sz="1200" b="0" i="0" u="none" strike="noStrike" cap="none">
                <a:solidFill>
                  <a:schemeClr val="dk1"/>
                </a:solidFill>
                <a:latin typeface="Calibri"/>
                <a:ea typeface="Calibri"/>
                <a:cs typeface="Calibri"/>
                <a:sym typeface="Calibri"/>
              </a:rPr>
              <a:t>: Techniques like focal loss or synthetic data generation (e.g., using GANs) could be employed to balance the data and focus the model’s learning on hard-to-classify pneumonia cases .</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Image Quality and Variability</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Issue</a:t>
            </a:r>
            <a:r>
              <a:rPr lang="en-US" sz="1200" b="0" i="0" u="none" strike="noStrike" cap="none">
                <a:solidFill>
                  <a:schemeClr val="dk1"/>
                </a:solidFill>
                <a:latin typeface="Calibri"/>
                <a:ea typeface="Calibri"/>
                <a:cs typeface="Calibri"/>
                <a:sym typeface="Calibri"/>
              </a:rPr>
              <a:t>: There is significant variability in the quality and resolution of the X-ray images in the dataset. Some images are noisier or lower resolution, which could negatively impact the model's ability to accurately classify pneumonia.</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Impact</a:t>
            </a:r>
            <a:r>
              <a:rPr lang="en-US" sz="1200" b="0" i="0" u="none" strike="noStrike" cap="none">
                <a:solidFill>
                  <a:schemeClr val="dk1"/>
                </a:solidFill>
                <a:latin typeface="Calibri"/>
                <a:ea typeface="Calibri"/>
                <a:cs typeface="Calibri"/>
                <a:sym typeface="Calibri"/>
              </a:rPr>
              <a:t>: This variability may cause the model to perform well on certain subsets of data but poorly on others, affecting its generalizability to new datasets​.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Enhancement</a:t>
            </a:r>
            <a:r>
              <a:rPr lang="en-US" sz="1200" b="0" i="0" u="none" strike="noStrike" cap="none">
                <a:solidFill>
                  <a:schemeClr val="dk1"/>
                </a:solidFill>
                <a:latin typeface="Calibri"/>
                <a:ea typeface="Calibri"/>
                <a:cs typeface="Calibri"/>
                <a:sym typeface="Calibri"/>
              </a:rPr>
              <a:t>: Using advanced image preprocessing techniques and image quality enhancement algorithms may help normalize the images and improve model robustness across varying image qualities.</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Generalization to New Datasets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Issue</a:t>
            </a:r>
            <a:r>
              <a:rPr lang="en-US" sz="1200" b="0" i="0" u="none" strike="noStrike" cap="none">
                <a:solidFill>
                  <a:schemeClr val="dk1"/>
                </a:solidFill>
                <a:latin typeface="Calibri"/>
                <a:ea typeface="Calibri"/>
                <a:cs typeface="Calibri"/>
                <a:sym typeface="Calibri"/>
              </a:rPr>
              <a:t>: The model was trained and validated on a specific dataset, and there is uncertainty regarding how well it generalizes to different patient populations or medical institutions, where imaging protocols and equipment may differ.</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Impact</a:t>
            </a:r>
            <a:r>
              <a:rPr lang="en-US" sz="1200" b="0" i="0" u="none" strike="noStrike" cap="none">
                <a:solidFill>
                  <a:schemeClr val="dk1"/>
                </a:solidFill>
                <a:latin typeface="Calibri"/>
                <a:ea typeface="Calibri"/>
                <a:cs typeface="Calibri"/>
                <a:sym typeface="Calibri"/>
              </a:rPr>
              <a:t>: If the model encounters images with different characteristics, its performance might degrade, leading to misclassification or lower diagnostic accuracy .</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Enhancement</a:t>
            </a:r>
            <a:r>
              <a:rPr lang="en-US" sz="1200" b="0" i="0" u="none" strike="noStrike" cap="none">
                <a:solidFill>
                  <a:schemeClr val="dk1"/>
                </a:solidFill>
                <a:latin typeface="Calibri"/>
                <a:ea typeface="Calibri"/>
                <a:cs typeface="Calibri"/>
                <a:sym typeface="Calibri"/>
              </a:rPr>
              <a:t>: Transfer learning and fine-tuning with new, more diverse datasets could help ensure that the model generalizes better across different environments.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0"/>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Limitations of the Pneumonia Detection Solution</a:t>
            </a:r>
            <a:endParaRPr sz="2800" b="0" i="0" u="none" strike="noStrike" cap="none">
              <a:solidFill>
                <a:srgbClr val="3F3F3F"/>
              </a:solidFill>
              <a:latin typeface="Calibri"/>
              <a:ea typeface="Calibri"/>
              <a:cs typeface="Calibri"/>
              <a:sym typeface="Calibri"/>
            </a:endParaRPr>
          </a:p>
        </p:txBody>
      </p:sp>
      <p:sp>
        <p:nvSpPr>
          <p:cNvPr id="222" name="Google Shape;222;p40"/>
          <p:cNvSpPr txBox="1"/>
          <p:nvPr/>
        </p:nvSpPr>
        <p:spPr>
          <a:xfrm>
            <a:off x="699246" y="931933"/>
            <a:ext cx="11116233" cy="433960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Bounding Box Localization</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Issue</a:t>
            </a:r>
            <a:r>
              <a:rPr lang="en-US" sz="1200" b="0" i="0" u="none" strike="noStrike" cap="none">
                <a:solidFill>
                  <a:schemeClr val="dk1"/>
                </a:solidFill>
                <a:latin typeface="Calibri"/>
                <a:ea typeface="Calibri"/>
                <a:cs typeface="Calibri"/>
                <a:sym typeface="Calibri"/>
              </a:rPr>
              <a:t>: While the classification model can detect pneumonia, its ability to localize pneumonia regions within the lung (using bounding boxes) is less developed. This makes it harder to pinpoint exactly where in the lung the infection is occurring .</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Impact</a:t>
            </a:r>
            <a:r>
              <a:rPr lang="en-US" sz="1200" b="0" i="0" u="none" strike="noStrike" cap="none">
                <a:solidFill>
                  <a:schemeClr val="dk1"/>
                </a:solidFill>
                <a:latin typeface="Calibri"/>
                <a:ea typeface="Calibri"/>
                <a:cs typeface="Calibri"/>
                <a:sym typeface="Calibri"/>
              </a:rPr>
              <a:t>: In a clinical setting, having accurate localization is essential for radiologists to confirm the model’s prediction and assess the severity of the condition.</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Enhancement</a:t>
            </a:r>
            <a:r>
              <a:rPr lang="en-US" sz="1200" b="0" i="0" u="none" strike="noStrike" cap="none">
                <a:solidFill>
                  <a:schemeClr val="dk1"/>
                </a:solidFill>
                <a:latin typeface="Calibri"/>
                <a:ea typeface="Calibri"/>
                <a:cs typeface="Calibri"/>
                <a:sym typeface="Calibri"/>
              </a:rPr>
              <a:t>: Further training and fine-tuning of R-CNN models for more accurate pneumonia localization could significantly improve the practical usability of the model in clinical workflows .</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Overfitting and Model Stability</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Issue</a:t>
            </a:r>
            <a:r>
              <a:rPr lang="en-US" sz="1200" b="0" i="0" u="none" strike="noStrike" cap="none">
                <a:solidFill>
                  <a:schemeClr val="dk1"/>
                </a:solidFill>
                <a:latin typeface="Calibri"/>
                <a:ea typeface="Calibri"/>
                <a:cs typeface="Calibri"/>
                <a:sym typeface="Calibri"/>
              </a:rPr>
              <a:t>: Although L2 regularization and early stopping were implemented to prevent overfitting, the model still showed signs of overfitting, particularly when applied to unseen data .</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Impact</a:t>
            </a:r>
            <a:r>
              <a:rPr lang="en-US" sz="1200" b="0" i="0" u="none" strike="noStrike" cap="none">
                <a:solidFill>
                  <a:schemeClr val="dk1"/>
                </a:solidFill>
                <a:latin typeface="Calibri"/>
                <a:ea typeface="Calibri"/>
                <a:cs typeface="Calibri"/>
                <a:sym typeface="Calibri"/>
              </a:rPr>
              <a:t>: This reduces the model's stability and reliability, especially when transitioning to real-world deployment.</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Enhancement</a:t>
            </a:r>
            <a:r>
              <a:rPr lang="en-US" sz="1200" b="0" i="0" u="none" strike="noStrike" cap="none">
                <a:solidFill>
                  <a:schemeClr val="dk1"/>
                </a:solidFill>
                <a:latin typeface="Calibri"/>
                <a:ea typeface="Calibri"/>
                <a:cs typeface="Calibri"/>
                <a:sym typeface="Calibri"/>
              </a:rPr>
              <a:t>: Increasing the dropout rate or employing ensemble learning with multiple architectures (e.g., VGG16, DenseNet, ResNet) could help mitigate overfitting and improve the model’s generalizability .</a:t>
            </a:r>
            <a:endParaRPr/>
          </a:p>
          <a:p>
            <a:pPr marL="171450" marR="0" lvl="0" indent="-825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Potential Issues and Enhancements For Mask R-CNN:</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Training Time:</a:t>
            </a:r>
            <a:r>
              <a:rPr lang="en-US" sz="1200" b="0" i="0" u="none" strike="noStrike" cap="none">
                <a:solidFill>
                  <a:schemeClr val="dk1"/>
                </a:solidFill>
                <a:latin typeface="Calibri"/>
                <a:ea typeface="Calibri"/>
                <a:cs typeface="Calibri"/>
                <a:sym typeface="Calibri"/>
              </a:rPr>
              <a:t> Mask R-CNN models can be resource-intensive and require significant computational power, particularly for large image datasets like DICOM files.</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Validation Loss: </a:t>
            </a:r>
            <a:r>
              <a:rPr lang="en-US" sz="1200" b="0" i="0" u="none" strike="noStrike" cap="none">
                <a:solidFill>
                  <a:schemeClr val="dk1"/>
                </a:solidFill>
                <a:latin typeface="Calibri"/>
                <a:ea typeface="Calibri"/>
                <a:cs typeface="Calibri"/>
                <a:sym typeface="Calibri"/>
              </a:rPr>
              <a:t>The code tracks validation loss during training and saves the best model, which is crucial for avoiding overfitting. However, further hyperparameter tuning (e.g., learning rate adjustment) might be required for optimal performance.</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Real-World Usage: </a:t>
            </a:r>
            <a:r>
              <a:rPr lang="en-US" sz="1200" b="0" i="0" u="none" strike="noStrike" cap="none">
                <a:solidFill>
                  <a:schemeClr val="dk1"/>
                </a:solidFill>
                <a:latin typeface="Calibri"/>
                <a:ea typeface="Calibri"/>
                <a:cs typeface="Calibri"/>
                <a:sym typeface="Calibri"/>
              </a:rPr>
              <a:t>For real-world medical applications, the model's ability to segment pneumonia regions is highly valuable, but ensuring accuracy and minimizing false negatives (i.e., missed pneumonia cases) would be a key consideration.</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These limitations highlight areas for future improvement, including addressing class imbalance, improving image preprocessing, enhancing localization, and ensuring the model generalizes well to new datasets.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41"/>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Closing Reflections of the Pneumonia Detection Solution</a:t>
            </a:r>
            <a:endParaRPr sz="2800" b="0" i="0" u="none" strike="noStrike" cap="none">
              <a:solidFill>
                <a:srgbClr val="3F3F3F"/>
              </a:solidFill>
              <a:latin typeface="Calibri"/>
              <a:ea typeface="Calibri"/>
              <a:cs typeface="Calibri"/>
              <a:sym typeface="Calibri"/>
            </a:endParaRPr>
          </a:p>
        </p:txBody>
      </p:sp>
      <p:sp>
        <p:nvSpPr>
          <p:cNvPr id="228" name="Google Shape;228;p41"/>
          <p:cNvSpPr txBox="1"/>
          <p:nvPr/>
        </p:nvSpPr>
        <p:spPr>
          <a:xfrm>
            <a:off x="699246" y="931933"/>
            <a:ext cx="11116233" cy="50782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Throughout the </a:t>
            </a:r>
            <a:r>
              <a:rPr lang="en-US" sz="1200" b="1" i="0" u="none" strike="noStrike" cap="none">
                <a:solidFill>
                  <a:schemeClr val="dk1"/>
                </a:solidFill>
                <a:latin typeface="Calibri"/>
                <a:ea typeface="Calibri"/>
                <a:cs typeface="Calibri"/>
                <a:sym typeface="Calibri"/>
              </a:rPr>
              <a:t>Pneumonia Detection Challenge</a:t>
            </a:r>
            <a:r>
              <a:rPr lang="en-US" sz="1200" b="0" i="0" u="none" strike="noStrike" cap="none">
                <a:solidFill>
                  <a:schemeClr val="dk1"/>
                </a:solidFill>
                <a:latin typeface="Calibri"/>
                <a:ea typeface="Calibri"/>
                <a:cs typeface="Calibri"/>
                <a:sym typeface="Calibri"/>
              </a:rPr>
              <a:t>, several important lessons were learned regarding the complexities of medical image classification and deep learning model development:</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Importance of Data Quality and Balance: </a:t>
            </a:r>
            <a:r>
              <a:rPr lang="en-US" sz="1200" b="0" i="0" u="none" strike="noStrike" cap="none">
                <a:solidFill>
                  <a:schemeClr val="dk1"/>
                </a:solidFill>
                <a:latin typeface="Calibri"/>
                <a:ea typeface="Calibri"/>
                <a:cs typeface="Calibri"/>
                <a:sym typeface="Calibri"/>
              </a:rPr>
              <a:t>The project highlighted the critical role that data quality and class balance play in developing effective deep learning models. The significant class imbalance (22.5% pneumonia cases) was a key challenge that needed to be addressed. </a:t>
            </a:r>
            <a:r>
              <a:rPr lang="en-US" sz="1200" b="1" i="0" u="none" strike="noStrike" cap="none">
                <a:solidFill>
                  <a:schemeClr val="dk1"/>
                </a:solidFill>
                <a:latin typeface="Calibri"/>
                <a:ea typeface="Calibri"/>
                <a:cs typeface="Calibri"/>
                <a:sym typeface="Calibri"/>
              </a:rPr>
              <a:t>Data augmentation </a:t>
            </a:r>
            <a:r>
              <a:rPr lang="en-US" sz="1200" b="0" i="0" u="none" strike="noStrike" cap="none">
                <a:solidFill>
                  <a:schemeClr val="dk1"/>
                </a:solidFill>
                <a:latin typeface="Calibri"/>
                <a:ea typeface="Calibri"/>
                <a:cs typeface="Calibri"/>
                <a:sym typeface="Calibri"/>
              </a:rPr>
              <a:t>helped alleviate some issues, but more sophisticated techniques, such as </a:t>
            </a:r>
            <a:r>
              <a:rPr lang="en-US" sz="1200" b="1" i="0" u="none" strike="noStrike" cap="none">
                <a:solidFill>
                  <a:schemeClr val="dk1"/>
                </a:solidFill>
                <a:latin typeface="Calibri"/>
                <a:ea typeface="Calibri"/>
                <a:cs typeface="Calibri"/>
                <a:sym typeface="Calibri"/>
              </a:rPr>
              <a:t>oversampling or focal loss</a:t>
            </a:r>
            <a:r>
              <a:rPr lang="en-US" sz="1200" b="0" i="0" u="none" strike="noStrike" cap="none">
                <a:solidFill>
                  <a:schemeClr val="dk1"/>
                </a:solidFill>
                <a:latin typeface="Calibri"/>
                <a:ea typeface="Calibri"/>
                <a:cs typeface="Calibri"/>
                <a:sym typeface="Calibri"/>
              </a:rPr>
              <a:t>, would have provided better results.</a:t>
            </a:r>
            <a:endParaRPr sz="1200" b="1" i="0" u="none" strike="noStrike" cap="none">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Next Time: </a:t>
            </a:r>
            <a:r>
              <a:rPr lang="en-US" sz="1200" b="0" i="0" u="none" strike="noStrike" cap="none">
                <a:solidFill>
                  <a:schemeClr val="dk1"/>
                </a:solidFill>
                <a:latin typeface="Calibri"/>
                <a:ea typeface="Calibri"/>
                <a:cs typeface="Calibri"/>
                <a:sym typeface="Calibri"/>
              </a:rPr>
              <a:t>We would prioritize addressing class imbalance earlier in the process, possibly by experimenting with synthetic data generation or sampling techniques.</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Transfer Learning and Fine-Tuning: </a:t>
            </a:r>
            <a:r>
              <a:rPr lang="en-US" sz="1200" b="0" i="0" u="none" strike="noStrike" cap="none">
                <a:solidFill>
                  <a:schemeClr val="dk1"/>
                </a:solidFill>
                <a:latin typeface="Calibri"/>
                <a:ea typeface="Calibri"/>
                <a:cs typeface="Calibri"/>
                <a:sym typeface="Calibri"/>
              </a:rPr>
              <a:t>Utilizing transfer learning proved to be an effective approach for quickly developing a high-performing model, particularly given the size of the dataset. Fine-tuning the ResNet50 model helped leverage pre-trained weights and resulted in a significant boost in performance over the base CNN.</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Next Time:</a:t>
            </a:r>
            <a:r>
              <a:rPr lang="en-US" sz="1200" b="0" i="0" u="none" strike="noStrike" cap="none">
                <a:solidFill>
                  <a:schemeClr val="dk1"/>
                </a:solidFill>
                <a:latin typeface="Calibri"/>
                <a:ea typeface="Calibri"/>
                <a:cs typeface="Calibri"/>
                <a:sym typeface="Calibri"/>
              </a:rPr>
              <a:t> I would explore using different pre-trained architectures (such as InceptionV3 or EfficientNet) earlier to see if they offer even better feature extraction for this specific task.</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Regularization and Generalization: </a:t>
            </a:r>
            <a:r>
              <a:rPr lang="en-US" sz="1200" b="0" i="0" u="none" strike="noStrike" cap="none">
                <a:solidFill>
                  <a:schemeClr val="dk1"/>
                </a:solidFill>
                <a:latin typeface="Calibri"/>
                <a:ea typeface="Calibri"/>
                <a:cs typeface="Calibri"/>
                <a:sym typeface="Calibri"/>
              </a:rPr>
              <a:t>Introducing </a:t>
            </a:r>
            <a:r>
              <a:rPr lang="en-US" sz="1200" b="1" i="0" u="none" strike="noStrike" cap="none">
                <a:solidFill>
                  <a:schemeClr val="dk1"/>
                </a:solidFill>
                <a:latin typeface="Calibri"/>
                <a:ea typeface="Calibri"/>
                <a:cs typeface="Calibri"/>
                <a:sym typeface="Calibri"/>
              </a:rPr>
              <a:t>L2 regularization </a:t>
            </a:r>
            <a:r>
              <a:rPr lang="en-US" sz="1200" b="0" i="0" u="none" strike="noStrike" cap="none">
                <a:solidFill>
                  <a:schemeClr val="dk1"/>
                </a:solidFill>
                <a:latin typeface="Calibri"/>
                <a:ea typeface="Calibri"/>
                <a:cs typeface="Calibri"/>
                <a:sym typeface="Calibri"/>
              </a:rPr>
              <a:t>and early stopping helped reduce overfitting, but the model still faced challenges in generalizing to unseen data, especially when the image quality varied. Additional preprocessing steps and more robust regularization techniques could have further improved generalization.</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Next Time:</a:t>
            </a:r>
            <a:r>
              <a:rPr lang="en-US" sz="1200" b="0" i="0" u="none" strike="noStrike" cap="none">
                <a:solidFill>
                  <a:schemeClr val="dk1"/>
                </a:solidFill>
                <a:latin typeface="Calibri"/>
                <a:ea typeface="Calibri"/>
                <a:cs typeface="Calibri"/>
                <a:sym typeface="Calibri"/>
              </a:rPr>
              <a:t> I would experiment with </a:t>
            </a:r>
            <a:r>
              <a:rPr lang="en-US" sz="1200" b="1" i="0" u="none" strike="noStrike" cap="none">
                <a:solidFill>
                  <a:schemeClr val="dk1"/>
                </a:solidFill>
                <a:latin typeface="Calibri"/>
                <a:ea typeface="Calibri"/>
                <a:cs typeface="Calibri"/>
                <a:sym typeface="Calibri"/>
              </a:rPr>
              <a:t>ensemble learning </a:t>
            </a:r>
            <a:r>
              <a:rPr lang="en-US" sz="1200" b="0" i="0" u="none" strike="noStrike" cap="none">
                <a:solidFill>
                  <a:schemeClr val="dk1"/>
                </a:solidFill>
                <a:latin typeface="Calibri"/>
                <a:ea typeface="Calibri"/>
                <a:cs typeface="Calibri"/>
                <a:sym typeface="Calibri"/>
              </a:rPr>
              <a:t>or advanced </a:t>
            </a:r>
            <a:r>
              <a:rPr lang="en-US" sz="1200" b="1" i="0" u="none" strike="noStrike" cap="none">
                <a:solidFill>
                  <a:schemeClr val="dk1"/>
                </a:solidFill>
                <a:latin typeface="Calibri"/>
                <a:ea typeface="Calibri"/>
                <a:cs typeface="Calibri"/>
                <a:sym typeface="Calibri"/>
              </a:rPr>
              <a:t>regularization</a:t>
            </a:r>
            <a:r>
              <a:rPr lang="en-US" sz="1200" b="0" i="0" u="none" strike="noStrike" cap="none">
                <a:solidFill>
                  <a:schemeClr val="dk1"/>
                </a:solidFill>
                <a:latin typeface="Calibri"/>
                <a:ea typeface="Calibri"/>
                <a:cs typeface="Calibri"/>
                <a:sym typeface="Calibri"/>
              </a:rPr>
              <a:t> techniques like dropout or batch normalization from the start to achieve better generalization across diverse datasets.</a:t>
            </a:r>
            <a:endParaRPr/>
          </a:p>
          <a:p>
            <a:pPr marL="171450" marR="0" lvl="0" indent="-825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Real-World Considerations: </a:t>
            </a:r>
            <a:r>
              <a:rPr lang="en-US" sz="1200" b="0" i="0" u="none" strike="noStrike" cap="none">
                <a:solidFill>
                  <a:schemeClr val="dk1"/>
                </a:solidFill>
                <a:latin typeface="Calibri"/>
                <a:ea typeface="Calibri"/>
                <a:cs typeface="Calibri"/>
                <a:sym typeface="Calibri"/>
              </a:rPr>
              <a:t>Working with medical data involves understanding the broader implications of deploying such models in real-world settings. Ensuring that the model is reliable and generalizes well across different populations is crucial. While the model performed well in a controlled environment, it still faced challenges in real-world applicability, particularly in terms of localization and variability in image quality.</a:t>
            </a:r>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Next Time:</a:t>
            </a:r>
            <a:r>
              <a:rPr lang="en-US" sz="1200" b="0" i="0" u="none" strike="noStrike" cap="none">
                <a:solidFill>
                  <a:schemeClr val="dk1"/>
                </a:solidFill>
                <a:latin typeface="Calibri"/>
                <a:ea typeface="Calibri"/>
                <a:cs typeface="Calibri"/>
                <a:sym typeface="Calibri"/>
              </a:rPr>
              <a:t> I would place greater emphasis on ensuring the model can handle diverse data sources by incorporating datasets from different hospitals or imaging devices to simulate real-world conditions.</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In summary, this project demonstrated the importance of data quality, model architecture, and robustness when building AI models for medical use. In future projects, I would take a more proactive approach to balancing the dataset and exploring additional deep learning techniques to further enhance performance.</a:t>
            </a:r>
            <a:endParaRPr/>
          </a:p>
          <a:p>
            <a:pPr marL="171450" marR="0" lvl="0" indent="-82550" algn="l" rtl="0">
              <a:lnSpc>
                <a:spcPct val="100000"/>
              </a:lnSpc>
              <a:spcBef>
                <a:spcPts val="0"/>
              </a:spcBef>
              <a:spcAft>
                <a:spcPts val="0"/>
              </a:spcAft>
              <a:buClr>
                <a:schemeClr val="dk1"/>
              </a:buClr>
              <a:buSzPts val="1400"/>
              <a:buFont typeface="Arial"/>
              <a:buNone/>
            </a:pP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2"/>
          <p:cNvSpPr txBox="1"/>
          <p:nvPr/>
        </p:nvSpPr>
        <p:spPr>
          <a:xfrm>
            <a:off x="0" y="90115"/>
            <a:ext cx="12192000" cy="701675"/>
          </a:xfrm>
          <a:prstGeom prst="rect">
            <a:avLst/>
          </a:prstGeom>
          <a:noFill/>
          <a:ln>
            <a:noFill/>
          </a:ln>
        </p:spPr>
        <p:txBody>
          <a:bodyPr spcFirstLastPara="1" wrap="square" lIns="91425" tIns="45700" rIns="91425" bIns="45700" anchor="b" anchorCtr="0">
            <a:normAutofit/>
          </a:bodyPr>
          <a:lstStyle/>
          <a:p>
            <a:pPr marL="0" marR="0" lvl="0" indent="0" algn="ctr" rtl="0">
              <a:lnSpc>
                <a:spcPct val="90000"/>
              </a:lnSpc>
              <a:spcBef>
                <a:spcPts val="0"/>
              </a:spcBef>
              <a:spcAft>
                <a:spcPts val="0"/>
              </a:spcAft>
              <a:buClr>
                <a:srgbClr val="3F3F3F"/>
              </a:buClr>
              <a:buSzPts val="2800"/>
              <a:buFont typeface="Calibri"/>
              <a:buNone/>
            </a:pPr>
            <a:r>
              <a:rPr lang="en-US" sz="2800" b="0" i="0" u="none" strike="noStrike" cap="none">
                <a:solidFill>
                  <a:srgbClr val="3F3F3F"/>
                </a:solidFill>
                <a:latin typeface="Calibri"/>
                <a:ea typeface="Calibri"/>
                <a:cs typeface="Calibri"/>
                <a:sym typeface="Calibri"/>
              </a:rPr>
              <a:t>Closing Reflections of the Pneumonia Detection Solution</a:t>
            </a:r>
            <a:endParaRPr sz="2800" b="0" i="0" u="none" strike="noStrike" cap="none">
              <a:solidFill>
                <a:srgbClr val="3F3F3F"/>
              </a:solidFill>
              <a:latin typeface="Calibri"/>
              <a:ea typeface="Calibri"/>
              <a:cs typeface="Calibri"/>
              <a:sym typeface="Calibri"/>
            </a:endParaRPr>
          </a:p>
        </p:txBody>
      </p:sp>
      <p:sp>
        <p:nvSpPr>
          <p:cNvPr id="234" name="Google Shape;234;p42"/>
          <p:cNvSpPr txBox="1"/>
          <p:nvPr/>
        </p:nvSpPr>
        <p:spPr>
          <a:xfrm>
            <a:off x="699246" y="931933"/>
            <a:ext cx="11116233" cy="19389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Calibri"/>
                <a:ea typeface="Calibri"/>
                <a:cs typeface="Calibri"/>
                <a:sym typeface="Calibri"/>
              </a:rPr>
              <a:t>Real-World Considerations</a:t>
            </a:r>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Working with medical data involves understanding the broader implications of deploying such models in real-world settings. Ensuring that the model is reliable and generalizes well across different populations is crucial. While the model performed well in a controlled environment, it still faced challenges in real-world applicability, particularly in terms of localization and variability in image quality.</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400"/>
              <a:buFont typeface="Arial"/>
              <a:buChar char="•"/>
            </a:pPr>
            <a:r>
              <a:rPr lang="en-US" sz="1200" b="1" i="0" u="none" strike="noStrike" cap="none">
                <a:solidFill>
                  <a:schemeClr val="dk1"/>
                </a:solidFill>
                <a:latin typeface="Calibri"/>
                <a:ea typeface="Calibri"/>
                <a:cs typeface="Calibri"/>
                <a:sym typeface="Calibri"/>
              </a:rPr>
              <a:t>Next Time:</a:t>
            </a:r>
            <a:r>
              <a:rPr lang="en-US" sz="1200" b="0" i="0" u="none" strike="noStrike" cap="none">
                <a:solidFill>
                  <a:schemeClr val="dk1"/>
                </a:solidFill>
                <a:latin typeface="Calibri"/>
                <a:ea typeface="Calibri"/>
                <a:cs typeface="Calibri"/>
                <a:sym typeface="Calibri"/>
              </a:rPr>
              <a:t> I would place greater emphasis on ensuring the model can handle diverse data sources by incorporating datasets from different hospitals or imaging devices to simulate real-world conditions.</a:t>
            </a:r>
            <a:endParaRPr/>
          </a:p>
          <a:p>
            <a:pPr marL="0" marR="0" lvl="0" indent="0" algn="l" rtl="0">
              <a:lnSpc>
                <a:spcPct val="100000"/>
              </a:lnSpc>
              <a:spcBef>
                <a:spcPts val="0"/>
              </a:spcBef>
              <a:spcAft>
                <a:spcPts val="0"/>
              </a:spcAft>
              <a:buNone/>
            </a:pP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In summary, this project demonstrated the importance of data quality, model architecture, and robustness when building AI models for medical use. In future projects, I would take a more proactive approach to balancing the dataset and exploring additional deep learning techniques to further enhance performance.</a:t>
            </a:r>
            <a:endParaRPr/>
          </a:p>
        </p:txBody>
      </p:sp>
    </p:spTree>
  </p:cSld>
  <p:clrMapOvr>
    <a:masterClrMapping/>
  </p:clrMapOvr>
</p:sld>
</file>

<file path=ppt/theme/theme1.xml><?xml version="1.0" encoding="utf-8"?>
<a:theme xmlns:a="http://schemas.openxmlformats.org/drawingml/2006/main" name="Custom">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a:themeElements>
    <a:clrScheme name="Custom 34">
      <a:dk1>
        <a:srgbClr val="000000"/>
      </a:dk1>
      <a:lt1>
        <a:srgbClr val="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5346</Words>
  <Application>Microsoft Office PowerPoint</Application>
  <PresentationFormat>Widescreen</PresentationFormat>
  <Paragraphs>329</Paragraphs>
  <Slides>23</Slides>
  <Notes>23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23</vt:i4>
      </vt:variant>
    </vt:vector>
  </HeadingPairs>
  <TitlesOfParts>
    <vt:vector size="30" baseType="lpstr">
      <vt:lpstr>Libre Franklin</vt:lpstr>
      <vt:lpstr>Calibri</vt:lpstr>
      <vt:lpstr>Bookman Old Style</vt:lpstr>
      <vt:lpstr>Arial</vt:lpstr>
      <vt:lpstr>Courier New</vt:lpstr>
      <vt:lpstr>Custom</vt:lpstr>
      <vt:lpstr>Custom</vt:lpstr>
      <vt:lpstr> Developer: Ananth</vt:lpstr>
      <vt:lpstr>Summary of Problem Statement, Data, and Findings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Atul Shukla</dc:creator>
  <cp:lastModifiedBy>Ananth G</cp:lastModifiedBy>
  <cp:revision>7</cp:revision>
  <dcterms:created xsi:type="dcterms:W3CDTF">2024-08-24T05:05:07Z</dcterms:created>
  <dcterms:modified xsi:type="dcterms:W3CDTF">2026-05-01T12:21:53Z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